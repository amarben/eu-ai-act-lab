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comprehensive course on implementing the European Union's Artificial Intelligence Act in your organization. I'm genuinely excited to guide you through this transformative journey where we'll bridge the critical gap between regulatory theory and practical, audit-ready compliance. My name is [Instructor Name], and I've spent years helping organizations navigate complex regulatory frameworks and turn abstract requirements into concrete, implementable processes. The EU AI Act represents one of the most significant regulatory developments for artificial intelligence in history, and understanding how to implement it effectively is no longer optional—it's absolutely essential for any organization that develops or deploys AI systems within the European Union market.</a:t>
            </a:r>
          </a:p>
          <a:p/>
          <a:p>
            <a:r>
              <a:t>What makes this course fundamentally different from typical compliance training is our intensely practical, deliverable-focused approach. We're not going to spend endless hours discussing legal interpretations or debating theoretical scenarios. Instead, we're going to roll up our sleeves and actually build the compliance documentation that regulators expect to see. Throughout these twelve focused lectures, you'll gain hands-on experience with the EU AI Act Implementation Lab, a sophisticated web-based application that transforms abstract regulatory requirements into concrete, actionable workflows. This isn't a simulation or educational toy—it's a professional compliance tool powered by Google Gemini AI that generates audit-quality documentation, manages evidence, tracks progress, and produces professional reports.</a:t>
            </a:r>
          </a:p>
          <a:p/>
          <a:p>
            <a:r>
              <a:t>Here's what you're going to accomplish: you'll create nine professional compliance deliverables including risk classification reports, gap assessment analyses, AI governance frameworks, comprehensive technical documentation meeting Article 11 standards, risk management registers, training compliance plans, incident management protocols, and executive compliance summaries. Every single document will be generated using professional templates with AI assistance, then customized by you for realistic scenarios. By the end of this course, you'll have a complete compliance package that demonstrates your ability to implement EU AI Act requirements professionally and systematically. This portfolio could be presented to auditors, shared with executive leadership, or used as the foundation for your organization's actual compliance program. Whether you're a compliance officer, AI developer, product manager, risk manager, or business leader, this course will equip you with immediately applicable skills. Let's begin this important work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 absolutely clear about what you'll accomplish in this course by establishing specific, measurable, achievable, relevant, and time-bound learning objectives. By the completion of this training, you won't just understand the EU AI Act theoretically—you'll have demonstrated your ability to implement it practically through hands-on exercises, deliverable creation, and real-world application. These aren't vague aspirations; they're concrete skills you'll prove you've mastered by producing professional compliance documentation.</a:t>
            </a:r>
          </a:p>
          <a:p/>
          <a:p>
            <a:r>
              <a:t>First, you'll master the ability to systematically identify and inventory AI systems within an organization according to EU AI Act definitions and scope criteria. This means you'll be able to distinguish between AI systems and traditional software applications, categorize different types of AI technologies using regulatory definitions, document them using professional templates, and maintain accurate inventories. You'll practice this skill by building a complete AI system inventory using the Implementation Lab's structured tools.</a:t>
            </a:r>
          </a:p>
          <a:p/>
          <a:p>
            <a:r>
              <a:t>Second, you'll develop expertise in risk classification using the EU AI Act's four-tier framework: unacceptable risk, high-risk, limited risk, and minimal risk. Through guided exercises with decision trees and regulatory criteria, you'll classify various AI systems, understand the specific compliance obligations attached to each risk category, justify your classification decisions using Article references, and generate professional risk classification reports. This systematic methodology is exactly what compliance auditors use when evaluating organizational compliance.</a:t>
            </a:r>
          </a:p>
          <a:p/>
          <a:p>
            <a:r>
              <a:t>Third, you'll create comprehensive technical documentation that meets the demanding requirements of Article 11 for high-risk AI systems. This includes mastering all eight required sections covering intended purpose, data governance, privacy impact assessment, training procedures, testing and validation, quality assurance, monitoring systems, and human oversight mechanisms. You'll use the lab's AI-powered documentation generator to create professional-quality technical files, learning when to accept AI recommendations and when to customize content for specific contexts.</a:t>
            </a:r>
          </a:p>
          <a:p/>
          <a:p>
            <a:r>
              <a:t>Fourth, you'll build complete AI governance frameworks including oversight structures, role definitions, policy documents, risk management processes, training programs, and incident response protocols. Each module culminates in a specific deliverable that builds toward your final compliance package. These aren't theoretical exercises—they're practical skills that demonstrate professional competence in EU AI Act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you through exactly how this course is structured to maximize your learning effectiveness and ensure you develop practical compliance skills progressively and systematically. We've organized the content into ten core modules, each carefully designed to build upon the previous one, taking you from foundational understanding through advanced implementation capabilities. This isn't a random collection of topics—it's a deliberately sequenced learning path that mirrors how organizations actually implement EU AI Act compliance in real-world practice.</a:t>
            </a:r>
          </a:p>
          <a:p/>
          <a:p>
            <a:r>
              <a:t>We begin with Module 1, Understanding the EU AI Act, where we establish the essential regulatory foundation. You'll learn the Act's scope and territorial application, key definitions of AI systems and providers, the risk-based regulatory approach, enforcement mechanisms and penalties, and your specific obligations as an AI system provider or deployer. This foundational knowledge is critical for everything that follows. From there, Module 2 focuses on AI System Identification, teaching you how to inventory existing AI systems in your organization and assess whether they fall under the regulation's scope.</a:t>
            </a:r>
          </a:p>
          <a:p/>
          <a:p>
            <a:r>
              <a:t>Module 3 tackles Risk Classification, which is arguably the most critical decision point in your compliance journey because it determines all subsequent obligations. We'll work extensively through the four risk categories using real-world examples and practice scenarios. Module 4 covers Gap Assessment, where you'll evaluate your current practices against EU AI Act requirements and develop prioritized remediation plans.</a:t>
            </a:r>
          </a:p>
          <a:p/>
          <a:p>
            <a:r>
              <a:t>Modules 5 through 9 dive deep into building your actual compliance infrastructure. In Module 5, you'll establish AI Governance frameworks with oversight committees, roles, and policies. Module 6 covers Risk Management systems including risk identification, assessment, and mitigation. Module 7 focuses on Technical Documentation, where you'll create the comprehensive Article 11 documentation package. Module 8 addresses Training Programs and organizational competence. Module 9 handles Incident Management including detection, reporting, and resolution.</a:t>
            </a:r>
          </a:p>
          <a:p/>
          <a:p>
            <a:r>
              <a:t>Finally, Module 10 brings everything together with Continuous Monitoring and Reporting, teaching you to maintain compliance over time through dashboards, performance metrics, regular audits, and regulatory reporting. The course concludes with a capstone project where you'll compile all your deliverables into a complete, integrated compliance package—exactly what you'd present to regulatory authorities during an audit or conformity assessment.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European Union's Artificial Intelligence Act is the world's first comprehensive regulatory framework specifically designed to govern artificial intelligence systems, and understanding its foundational structure is absolutely critical before we dive into implementation details. This regulation doesn't apply to all software or all automation—it has very specific scope criteria that determine which AI systems fall under its jurisdiction and which obligations apply to different actors in the AI value chain. Getting this foundation right prevents costly misunderstandings later in your compliance journey.</a:t>
            </a:r>
          </a:p>
          <a:p/>
          <a:p>
            <a:r>
              <a:t>The EU AI Act uses a risk-based regulatory approach, which means not all AI systems face the same level of regulatory scrutiny. Instead, the regulation categorizes AI systems into four distinct risk tiers: prohibited practices that are banned outright, high-risk systems that face substantial compliance obligations, limited-risk systems with transparency requirements only, and minimal-risk systems that have no specific regulatory requirements beyond general law. This tiered approach recognizes that a resume screening system used for hiring decisions presents fundamentally different risks than a video game AI or spam filter, and regulatory burden should be proportionate to actual risk.</a:t>
            </a:r>
          </a:p>
          <a:p/>
          <a:p>
            <a:r>
              <a:t>Understanding key definitions is equally critical because the regulation's applicability hinges on precise terminology. The Act defines AI systems using specific technical criteria, distinguishes between AI system providers who develop or substantially modify systems and deployers who use systems under their authority, and establishes clear obligations for each role. An organization might be a provider for systems it develops internally, a deployer for systems it purchases from vendors, or both simultaneously for different systems in its portfolio. Misidentifying your role leads to compliance gaps.</a:t>
            </a:r>
          </a:p>
          <a:p/>
          <a:p>
            <a:r>
              <a:t>Finally, you need to understand the Act's territorial scope and extraterritorial application. The regulation applies not just to organizations physically located in the EU, but also to providers and deployers located outside the EU if their AI systems are used within the EU market or produce outputs used in the EU. This means a company in the United States, China, or anywhere else must comply if their AI systems affect EU residents or are deployed in EU territory. Geographic location doesn't determine applicability—market reach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how real organizations work through EU AI Act scope assessment systematically to determine which of their systems fall under the regulation and what their specific obligations are. This isn't abstract regulatory interpretation—it's practical decision-making that compliance teams perform daily using structured methodologies.</a:t>
            </a:r>
          </a:p>
          <a:p/>
          <a:p>
            <a:r>
              <a:t>Consider TechCorp Solutions, a mid-size software company with operations in both the United States and European Union. They develop three distinct AI systems: a customer service chatbot that handles support inquiries, an internal HR analytics tool that predicts employee turnover risk, and a recommendation engine that suggests products to users on their e-commerce platform. Their first step is determining which systems qualify as AI systems under the regulatory definition. The EU AI Act defines AI systems as machine-based systems that, for explicit or implicit objectives, infer from input how to generate outputs including predictions, content, recommendations, or decisions that influence physical or virtual environments. All three of TechCorp's systems clearly meet this definition because they use machine learning models to generate outputs that influence decisions.</a:t>
            </a:r>
          </a:p>
          <a:p/>
          <a:p>
            <a:r>
              <a:t>Next, they assess territorial applicability. The customer service chatbot is deployed on their EU-facing website and interacts with EU customers—clearly in scope. The HR analytics tool is used only for their US-based employees and internal decision-making with no EU component—potentially out of scope unless it processes EU employee data. The recommendation engine serves both US and EU users through the same platform—in scope for EU users. This territorial analysis determines which systems require compliance work.</a:t>
            </a:r>
          </a:p>
          <a:p/>
          <a:p>
            <a:r>
              <a:t>Then they identify their role for each system. For the chatbot and recommendation engine, which they developed in-house, TechCorp is the provider and must meet provider obligations including technical documentation, risk management, and conformity assessment. For a fraud detection AI they license from a third-party vendor, they're the deployer and must meet deployer obligations including proper use, human oversight, and monitoring. Many organizations are surprised to discover they hold multiple roles simultaneously depending on the system, and each role carries distinct compliance requirements that must be addressed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walk through a complete scope assessment example showing exactly how a company systematically determines whether their AI systems fall under EU AI Act jurisdiction, identifies their organizational role, and documents their analysis with specific regulatory citations and decision logic suitable for audit defense. We'll follow TalentTech Solutions as they assess their AI Recruitment Assistant, demonstrating the structured decision-making process organizations use to establish compliance scope with documented justifications.</a:t>
            </a:r>
          </a:p>
          <a:p/>
          <a:p>
            <a:r>
              <a:t>TalentTech Solutions, a Germany-based recruitment technology company with operations across the European Union, begins their scope assessment for their flagship AI system: the AI Recruitment Assistant, an automated resume screening and candidate ranking platform deployed across 50+ enterprise clients in 12 EU member states. Their compliance team, led by Rachel Thompson (Chief Risk Officer and Compliance Committee Chair), conducts systematic assessment using the EU AI Act scope decision framework with full documentation of each determination.</a:t>
            </a:r>
          </a:p>
          <a:p/>
          <a:p>
            <a:r>
              <a:t>They start with their AI Recruitment Assistant conducting the three-stage assessment. "Stage 1: AI System Definition Assessment. Question: Does the AI Recruitment Assistant use machine-based technology that generates outputs such as predictions, recommendations, or decisions? Analysis: Yes—the AI Recruitment Assistant uses gradient-boosted decision trees (XGBoost architecture) with natural language processing models to analyze resumes, extract candidate qualifications, generate candidate rankings, and produce hiring recommendations. The system infers from resume text, work history patterns, and skill indicators how to generate candidate suitability scores and ranked shortlists that directly influence hiring managers' employment decisions. Regulatory Reference: Article 3(1) definition of AI system. Determination: AI Recruitment Assistant qualifies as AI system under EU AI Act." They document this with specific technical details showing clear application of regulatory definition.</a:t>
            </a:r>
          </a:p>
          <a:p/>
          <a:p>
            <a:r>
              <a:t>"Stage 2: Territorial Scope Assessment. Question: Does the AI Recruitment Assistant operate in EU territory or affect EU residents? Analysis: The AI Recruitment Assistant is deployed across 50+ enterprise client organizations throughout 12 EU member states including Germany, France, Netherlands, Belgium, Austria, Spain, Italy, Poland, Sweden, Denmark, Ireland, and Finland. System processes approximately 127,543 candidate resumes annually, evaluates job applications from EU residents, and generates hiring recommendations that determine employment outcomes for EU workers. All client deployments serve EU-based companies making employment decisions about EU resident candidates. Regulatory Reference: Article 2(1) territorial scope—applies to providers placing AI systems on EU market regardless of provider location. Determination: AI Recruitment Assistant falls under territorial scope due to deployment affecting EU residents' employment opportunities, with TalentTech headquarters located in Frankfurt, Germany." This analysis demonstrates clear EU territorial applicability for employment-related AI systems.</a:t>
            </a:r>
          </a:p>
          <a:p/>
          <a:p>
            <a:r>
              <a:t>"Stage 3: Role Identification. Question: What is TalentTech's relationship to the AI Recruitment Assistant? Analysis: TalentTech developed the AI Recruitment Assistant internally using in-house engineering team (8 ML engineers, 4 NLP specialists, 2 fairness researchers) over 24-month development period 2022-2024. TalentTech owns intellectual property, controls model training and updates using their proprietary dataset of 127,543 anonymized resumes, determines intended purpose as recruitment screening tool, and licenses system to enterprise clients under TalentTech's name and trademark. TalentTech is not purchasing, licensing, or reselling the AI system from external provider—they are the original developer placing it on the EU market. Regulatory Reference: Article 3(2) definition of provider—natural or legal person that develops AI system or has AI system developed with view to placing it on market or putting it into service under own name or trademark. Determination: TalentTech is provider of AI Recruitment Assistant with full provider obligations including technical documentation (Article 11), risk management system (Article 9), conformity assessment (Article 43), quality management (Article 17), registration (Article 49), and post-market monitoring (Article 72)." They document specific article citations for each obligation category.</a:t>
            </a:r>
          </a:p>
          <a:p/>
          <a:p>
            <a:r>
              <a:t>TalentTech's compliance team recognizes the critical implications of this determination. "Our provider role means we bear primary regulatory responsibility for the AI Recruitment Assistant's compliance with all applicable EU AI Act requirements. We cannot delegate these obligations to our enterprise clients—they are deployers with separate obligations under Articles 26 and 29 for proper system use and human oversight, but technical documentation, risk management, conformity assessment, and post-market monitoring responsibilities belong to TalentTech as provider. This scope determination establishes our compliance roadmap foundation—we must now proceed to risk classification assessment per Annex III to determine whether our employment-focused AI system qualifies as high-risk, which would trigger comprehensive compliance requirements under Chapter III Section 2 of the regulation." This recognition demonstrates organizational understanding that provider status carries substantial regulatory obligations requiring dedicated compliance investment.</a:t>
            </a:r>
          </a:p>
          <a:p/>
          <a:p>
            <a:r>
              <a:t>TalentTech documents their complete scope assessment in formal Scope Assessment Report. "EU AI Act Scope Assessment Report—TalentTech Solutions. Assessment Date: January 15, 2025. Assessment Team: Rachel Thompson (Chief Risk Officer, Committee Chair), Sarah Chen (Chief Technology Officer), Michael Rodriguez (Data Science Lead), Jennifer Martinez (Compliance Manager). System Assessed: AI Recruitment Assistant (automated resume screening and candidate ranking platform). Summary Results: AI Recruitment Assistant—In Scope, Provider Role, proceed to risk classification per Annex III employment category. Determination Details: System meets Article 3(1) AI system definition through ML-based candidate evaluation and ranking. System falls under Article 2(1) territorial scope through deployment across 12 EU member states affecting 127,543 annual candidate evaluations. TalentTech determined to be provider per Article 3(2) definition with full provider obligations. Next Steps: Conduct risk classification assessment per Annex III Section 4 employment category (AI systems intended to be used for recruitment or selection of natural persons) which presumptively qualifies as high-risk. Establish compliance project governance with dedicated resources for anticipated high-risk requirements. Begin preliminary gap assessment to understand current compliance position versus full Chapter III Section 2 requirements. Documented Justification: System definitively meets AI system definition, serves EU market establishing territorial scope, TalentTech holds provider role with primary regulatory obligations." This professional documentation provides audit-ready evidence of systematic scope determination suitable for regulatory review.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classification is the single most important decision you'll make in your entire EU AI Act compliance journey, and I cannot overstate how critical it is to get this right. Once you've determined that your AI system falls under the regulation's scope, the next question is which of the four risk tiers it belongs to—and this classification determines absolutely everything that follows. The difference between a limited-risk classification and a high-risk classification could mean the difference between a simple transparency disclosure and twelve months of intensive compliance work with technical documentation, conformity assessment, and quality management systems. Making the wrong classification decision exposes your organization to regulatory penalties, while being overly conservative wastes resources on unnecessary compliance activities.</a:t>
            </a:r>
          </a:p>
          <a:p/>
          <a:p>
            <a:r>
              <a:t>The EU AI Act establishes four distinct risk categories, and understanding the precise criteria for each tier is essential. At the top, we have prohibited practices—AI systems that are banned outright because they pose unacceptable risks to fundamental rights and safety. These include social scoring systems, real-time remote biometric identification in public spaces for law enforcement, and systems that exploit vulnerabilities of specific groups. If your system falls into this category, you simply cannot deploy it in the European Union under any circumstances. Next, we have high-risk AI systems, which are defined through two pathways: systems used as safety components in products covered by EU harmonization legislation, and systems listed in Annex III covering specific use cases like employment, education, law enforcement, and critical infrastructure. High-risk systems face the most demanding compliance requirements.</a:t>
            </a:r>
          </a:p>
          <a:p/>
          <a:p>
            <a:r>
              <a:t>The third tier consists of limited-risk systems, which have specific transparency obligations but not the full compliance burden of high-risk systems. These include AI systems that interact with humans, emotion recognition systems, biometric categorization systems, and content generation systems that must disclose their AI nature to users. Finally, we have minimal-risk systems—the vast majority of AI applications like spam filters, video games, and recommendation engines—which have no specific regulatory obligations beyond general law. The key skill you'll develop in this lecture is systematically working through the classification criteria using decision trees, regulatory annexes, and clear justification frameworks to arrive at the correct risk tier for any AI system you encounter.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how organizations apply the risk classification framework systematically by working through a real-world example that illustrates the decision-making process and classification logic. Understanding this example helps you develop the pattern recognition skills needed to classify your own AI systems accurately and defensively.</a:t>
            </a:r>
          </a:p>
          <a:p/>
          <a:p>
            <a:r>
              <a:t>Consider TalentTech Solutions, a recruitment technology company that developed an AI Recruitment Assistant for automated resume screening and candidate ranking. We'll follow their systematic classification process to understand how employment-related AI systems are assessed under the EU AI Act's four-tier risk framework.</a:t>
            </a:r>
          </a:p>
          <a:p/>
          <a:p>
            <a:r>
              <a:t>TalentTech begins by checking if their system falls under prohibited practices under Article 5. The AI Recruitment Assistant doesn't use subliminal manipulation, doesn't exploit vulnerabilities of specific groups, doesn't perform social scoring by public authorities, and doesn't involve biometric identification for law enforcement. All prohibited practice criteria are clearly not applicable. The system moves to the next classification tier.</a:t>
            </a:r>
          </a:p>
          <a:p/>
          <a:p>
            <a:r>
              <a:t>Next, TalentTech evaluates Annex III high-risk categories. This is where their system's classification becomes immediately clear. Annex III, Section 4(a) explicitly lists "AI systems intended to be used for recruitment or selection of natural persons, notably for advertising vacancies, screening or filtering applications, evaluating candidates in the course of interviews or tests" as high-risk systems. The AI Recruitment Assistant directly performs resume screening, filters applications based on candidate qualifications, and generates ranked candidate shortlists that inform hiring decisions. The classification is straightforward: high-risk under Annex III employment category with full Chapter III Section 2 compliance obligations including technical documentation (Article 11), risk management systems (Article 9), data governance (Article 10), conformity assessment (Article 43), quality management (Article 17), registration in EU database (Article 49), and post-market monitoring (Article 72). There's no ambiguity—employment-related AI systems that influence hiring decisions are presumptively high-risk with comprehensive regulatory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walk through a complete risk classification example showing exactly how a company applies the decision framework we've covered, documenting their analysis with specific values and regulatory justifications. We'll follow TalentTech Solutions as they classify their AI Recruitment Assistant through the complete four-tier framework with actual decision points and documentation that would satisfy regulatory auditors.</a:t>
            </a:r>
          </a:p>
          <a:p/>
          <a:p>
            <a:r>
              <a:t>TalentTech begins their risk classification by systematically evaluating prohibited practices under Article 5. They document each assessment criterion with clear yes/no determinations. Does the AI Recruitment Assistant use subliminal manipulation techniques to materially distort behavior causing harm? No—the system analyzes resume content objectively using trained ML models to extract qualifications and generate rankings based on job requirements without employing manipulative techniques. Does it exploit vulnerabilities of specific groups due to age, disability, or social circumstances? No—the system evaluates candidates based on documented skills and experience without targeting vulnerable populations, though fairness testing monitors for potential bias. Does it perform social scoring by public authorities? No—TalentTech is a private recruitment technology company, not a government entity. Does it involve real-time remote biometric identification in publicly accessible spaces for law enforcement? No—the system analyzes text-based resume documents without any biometric processing. TalentTech documents all four prohibited practice criteria as "Not Applicable" with clear justifications for each determination.</a:t>
            </a:r>
          </a:p>
          <a:p/>
          <a:p>
            <a:r>
              <a:t>Next, TalentTech evaluates whether the AI Recruitment Assistant falls into any Annex III high-risk categories. They work through each category methodically with documented reasoning. Employment, workers management, and self-employment access? YES—This is the critical determination. Annex III, Section 4(a) explicitly states: "AI systems intended to be used for recruitment or selection of natural persons, notably for advertising vacancies, screening or filtering applications, evaluating candidates in the course of interviews or tests." TalentTech's system directly performs resume screening (analyzing 127,543 candidate resumes annually), filters applications based on qualification matching, generates candidate rankings from 1 to N, and produces shortlists that hiring managers use to make employment decisions. The employment category match is unambiguous. TalentTech documents: "APPLICABLE—Annex III Section 4(a) employment category. System performs recruitment screening and candidate evaluation that directly influences hiring decisions for 50+ enterprise clients across 12 EU member states. Classification: HIGH-RISK with full Chapter III Section 2 obligations."</a:t>
            </a:r>
          </a:p>
          <a:p/>
          <a:p>
            <a:r>
              <a:t>Having determined high-risk classification through Annex III employment category, TalentTech doesn't need to evaluate remaining categories or tiers—the classification is established. They document their specific compliance obligations: "As high-risk AI system provider, TalentTech must implement: Article 9 risk management system identifying and mitigating discrimination, bias, and fairness risks; Article 10 data governance ensuring training data quality and representativeness across demographic groups; Article 11 technical documentation with complete system specifications, model architecture (XGBoost), training data characteristics (127,543 resumes), performance metrics stratified by protected characteristics, and testing evidence; Article 13 transparency and information provision to deployers; Article 14 human oversight enabling deployers to supervise system operation; Article 15 accuracy, robustness, cybersecurity measures; Article 17 quality management system; Article 43 conformity assessment before market placement; Article 49 registration in EU database; Article 72 post-market monitoring including ongoing fairness testing and bias detection." This comprehensive compliance obligation list establishes TalentTech's regulatory roadmap resulting directly from their high-risk classification determination.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you've classified your AI system's risk tier, the natural question becomes: where do we stand right now, and what do we need to do to achieve full compliance? This is precisely what gap assessment answers, and it's the bridge between knowing your obligations and actually fulfilling them. A gap assessment is your systematic evaluation comparing your current state against all applicable EU AI Act requirements, identifying specific missing documentation, inadequate processes, incomplete technical measures, and compliance deficiencies. Without this structured assessment, organizations often waste months implementing the wrong things, duplicating efforts, or missing critical requirements entirely. The gap assessment becomes your actionable compliance roadmap, telling you exactly what needs to be done, in what order, and with what priority.</a:t>
            </a:r>
          </a:p>
          <a:p/>
          <a:p>
            <a:r>
              <a:t>The EU AI Act compliance framework consists of eight major requirement categories, each containing multiple specific obligations that high-risk AI systems must satisfy. These categories include risk management systems, data governance and quality, technical documentation, record-keeping practices, transparency and information provision to users, human oversight mechanisms, accuracy and robustness standards, and cybersecurity measures. For high-risk systems, compliance isn't optional or partial—every single requirement must be addressed with documented evidence. The challenge is that most organizations deploying AI systems have implemented some of these measures organically through good engineering practices, but they lack the systematic documentation, formal processes, and comprehensive coverage that regulatory compliance demands. You might have excellent data quality practices, but can you demonstrate them to an auditor with formal documentation? You might conduct regular testing, but do you have a documented risk management system that meets Article 9 specifications?</a:t>
            </a:r>
          </a:p>
          <a:p/>
          <a:p>
            <a:r>
              <a:t>The gap assessment process systematically works through every applicable requirement, evaluating your current implementation status, assigning responsibility for each requirement, documenting existing evidence, identifying specific gaps, and creating action items with clear priorities. The output is not just a report—it's your compliance project plan. You'll know exactly which requirements are already satisfied, which are partially implemented and need documentation, which require new processes or systems, and which represent your highest compliance risks. This transforms an overwhelming regulatory challenge into a manageable, step-by-step implementation plan where you can track progress, allocate resources effectively, and demonstrate continuous improvement toward full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how organizations conduct gap assessments by walking through a realistic scenario that demonstrates the evaluation process and decision-making framework. Understanding this practical application helps you recognize patterns and apply the methodology to your own AI systems effectively.</a:t>
            </a:r>
          </a:p>
          <a:p/>
          <a:p>
            <a:r>
              <a:t>Consider TalentMatch AI, a company operating an AI-powered recruitment system classified as high-risk under Annex III employment use cases. Their compliance officer begins the gap assessment by reviewing the risk management category, which contains three specific requirements: establishing a risk management system, conducting continuous risk assessments throughout the AI system lifecycle, and implementing risk mitigation measures with documented testing. For the first requirement, TalentMatch discovers they have informal risk discussions during development sprints but no documented risk management system following ISO 31000 or equivalent methodology. They mark this requirement as "Not Implemented" and assign it to their Chief Technology Officer with high priority because it's foundational to all other compliance work. The gap identified is the complete absence of a formal risk management framework, and the action item specifies implementing a documented system within the next quarter.</a:t>
            </a:r>
          </a:p>
          <a:p/>
          <a:p>
            <a:r>
              <a:t>Moving to data governance requirements, the assessment reveals a different pattern. TalentMatch has excellent data quality practices—they clean datasets, remove biases, validate inputs, and maintain data lineage tracking. However, when asked to demonstrate these practices with formal documentation required by Article 10, they realize their evidence is scattered across Jira tickets, Slack conversations, and individual team member's notes. They mark this requirement as "Partially Implemented" because the technical work exists but regulatory documentation doesn't. The gap here isn't the practice itself but the formal documentation, policies, and audit trails. They assign this to their Data Engineering Lead with medium priority and note that the action required is documentation formalization, not rebuilding existing systems.</a:t>
            </a:r>
          </a:p>
          <a:p/>
          <a:p>
            <a:r>
              <a:t>For transparency requirements, they find they have no user-facing disclosures about AI system limitations, no clear information provision mechanisms, and no documentation about how users receive necessary information to use the system appropriately. This is marked "Not Implemented" with specific gaps in user documentation, disclosure mechanisms, and communication protocols.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walk through a complete gap assessment showing exactly how a company conducts comprehensive compliance evaluation using the structured framework we've covered, with specific values, documented decisions, and prioritized action items. We'll follow TalentTech Solutions as they assess their high-risk AI Recruitment Assistant against all EU AI Act requirements, building their actionable compliance roadmap with concrete implementation details.</a:t>
            </a:r>
          </a:p>
          <a:p/>
          <a:p>
            <a:r>
              <a:t>TalentTech begins their gap assessment by evaluating Risk Management requirements under Article 9. They assess three specific requirements systematically. For Requirement 1: "Establish and maintain a risk management system throughout the AI system lifecycle," they conduct an honest evaluation of their current position. Their development team discusses potential risks during sprint planning, and product managers maintain an informal risk log in Confluence, but they lack a formal risk management framework with documented methodology, risk assessment criteria, severity ratings, or systematic monitoring processes. TalentTech documents this as "Status: Not Implemented, Assigned: Sarah Chen (CTO), Priority: High, Current State: Informal risk discussions during sprint planning, no documented framework. Implementation Gap: Need ISO 31000-based risk management system with documented risk register, assessment methodology, mitigation tracking, and quarterly review process. Target Completion: Q2 2024."</a:t>
            </a:r>
          </a:p>
          <a:p/>
          <a:p>
            <a:r>
              <a:t>For Requirement 2: "Conduct continuous risk assessment throughout the system lifecycle," TalentTech recognizes they do evaluate risks during development, but inconsistently and without documented evidence. They document: "Status: In Progress, Assigned: Sarah Chen (CTO), Priority: High, Current State: Sprint-based risk reviews conducted verbally during standups and retrospectives. Implementation Gap: Formalize continuous assessment process with documented risk evaluation at each development phase, establish risk triggers requiring reassessment, create audit trail of all risk decisions. Target Completion: Q2 2024 alongside risk management framework implementation."</a:t>
            </a:r>
          </a:p>
          <a:p/>
          <a:p>
            <a:r>
              <a:t>For Requirement 3: "Implement documented risk mitigation measures with testing evidence," TalentTech documents: "Status: Partially Implemented, Assigned: Marcus Thompson (Engineering Lead), Priority: High, Current State: Several mitigation measures implemented (input validation, bias monitoring, human oversight checkpoints) but testing evidence scattered across JIRA tickets without consolidated documentation. Implementation Gap: Create comprehensive mitigation register linking each identified risk to specific controls, document testing methodology, consolidate test results into auditable evidence package per Article 9 requirements."</a:t>
            </a:r>
          </a:p>
          <a:p/>
          <a:p>
            <a:r>
              <a:t>Moving to Data Governance requirements under Article 10, TalentTech assesses their training data practices. For "Implement training data governance and quality measures," they document: "Status: Partially Implemented, Assigned: Michael Rodriguez (Data Engineering Lead), Priority: Medium, Current State: Excellent technical implementation with data cleaning pipelines, automated bias detection using Fairness Indicators library, validation processes checking data representativeness across demographic groups, and version-controlled datasets in data warehouse. Implementation Gap: Technical practices are strong, but formal governance documentation missing—need data governance policy defining quality standards, documented data selection criteria, bias testing methodology with statistical thresholds, data lineage documentation, and formal sign-off process for dataset approval. Estimated Effort: 3 weeks for documentation creation and policy approval."</a:t>
            </a:r>
          </a:p>
          <a:p/>
          <a:p>
            <a:r>
              <a:t>TalentTech continues through Technical Documentation (Article 11), documenting: "Status: Not Implemented, Priority: Critical, Gap: No formal technical documentation exists in Article 11 format. Have architecture diagrams, model cards, and system design docs scattered across Confluence and GitHub, but need consolidated technical documentation package covering all 22 Article 11 elements with proper version control and regulatory-appropriate format."</a:t>
            </a:r>
          </a:p>
          <a:p/>
          <a:p>
            <a:r>
              <a:t>For Human Oversight (Article 14), they document: "Status: Implemented, Assigned: Lisa Park (Product Manager), Priority: Low, Current State: Comprehensive human oversight measures already implemented—hiring managers review all AI recommendations before decisions, mandatory human approval for candidate rejection, documented intervention procedures, trained oversight personnel with clear escalation paths. Evidence: Training records, oversight logs, intervention statistics. No gaps identified."</a:t>
            </a:r>
          </a:p>
          <a:p/>
          <a:p>
            <a:r>
              <a:t>For Cybersecurity (Article 15), TalentTech documents: "Status: Implemented, Assigned: James Kumar (DevOps Lead), Priority: Low, Current State: SOC 2 Type II certified, penetration testing completed quarterly with no critical findings, comprehensive security controls documented in security policy. Evidence: SOC 2 report, penetration test results, security audit logs. Minimal additional work required to map existing controls to EU AI Act cybersecurity requirements."</a:t>
            </a:r>
          </a:p>
          <a:p/>
          <a:p>
            <a:r>
              <a:t>TalentTech completes their gap assessment with an overall compliance score: 37% implemented (8 of 24 requirements fully compliant), 6 requirements partially implemented, 7 in progress, 3 not started. Their prioritized action plan identifies risk management framework implementation as the foundational priority, followed by formal technical documentation creation and data governance policy development. This comprehensive assessment becomes their compliance roadmap with clear ownership, timelines, and resource requirements documented for executive approval and regulatory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the organizational backbone of EU AI Act compliance, and without it, even the best technical implementations will fail regulatory scrutiny. When auditors and regulators evaluate your AI system, they're not just looking at algorithms and documentation—they're examining whether you have established clear organizational structures, defined roles and responsibilities, formal policies and procedures, accountability mechanisms, and oversight frameworks that ensure compliance isn't accidental but systematic and sustainable. Strong AI governance transforms compliance from a checkbox exercise into an embedded organizational capability where everyone knows their responsibilities, decisions follow documented processes, risks are escalated appropriately, and accountability is crystal clear at every level.</a:t>
            </a:r>
          </a:p>
          <a:p/>
          <a:p>
            <a:r>
              <a:t>The EU AI Act doesn't prescribe a specific governance model because organizations vary enormously in size, structure, and complexity, but it does require demonstrable governance that addresses specific regulatory obligations. You must identify who is responsible for risk management, data governance, technical documentation, human oversight, incident management, and regulatory reporting. You must establish policies that define how AI systems are developed, deployed, monitored, and retired. You must create decision-making frameworks that determine who approves high-risk AI deployments, who investigates incidents, who communicates with regulators, and who ensures continuous compliance monitoring. Without this structure, compliance activities become fragmented across teams, critical requirements fall through cracks, accountability becomes diffuse, and organizations cannot demonstrate systematic compliance during audits.</a:t>
            </a:r>
          </a:p>
          <a:p/>
          <a:p>
            <a:r>
              <a:t>Effective AI governance includes several essential components working together as an integrated system. First, you need an AI governance committee or working group with executive sponsorship, cross-functional representation, and clear decision-making authority. Second, you require formal policies covering AI development lifecycle, risk management, data governance, transparency, human oversight, and incident response. Third, you must define specific roles with documented responsibilities—who is the AI system owner, who manages compliance, who conducts risk assessments, who maintains documentation, and who interfaces with regulators. Fourth, you need accountability mechanisms including approval workflows, escalation procedures, compliance monitoring, and audit trails. Finally, you require governance documentation that proves to regulators that your compliance isn't improvised but follows established organizational processes with clear ownership and oversight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how organizations implement AI governance by walking through a realistic scenario showing the governance structures, roles, and policies that make EU AI Act compliance sustainable and auditable. Understanding these practical implementations helps you design governance appropriate for your organization's size and complexity.</a:t>
            </a:r>
          </a:p>
          <a:p/>
          <a:p>
            <a:r>
              <a:t>Consider FinServe Analytics, a financial technology company operating multiple AI systems for credit scoring, fraud detection, and customer service automation. After completing their gap assessment, they realized their biggest deficiency wasn't technical capability but organizational structure—no one had clear ownership of compliance, policies existed only in email threads, and decision-making about AI deployments was informal and undocumented. They decided to establish formal AI governance following EU AI Act requirements.</a:t>
            </a:r>
          </a:p>
          <a:p/>
          <a:p>
            <a:r>
              <a:t>They created an AI Governance Committee chaired by their Chief Risk Officer with members from legal, engineering, data science, product management, and compliance functions. This committee meets monthly to review new AI systems, approve high-risk deployments, assess compliance status, investigate incidents, and make policy decisions. They documented the committee charter specifying decision-making authority, escalation procedures, and reporting lines to the executive team and board of directors. Critically, they assigned a dedicated AI Compliance Manager reporting to the Chief Risk Officer with full-time responsibility for EU AI Act compliance across all systems. This person isn't just coordinating—they have authority to block deployments that don't meet compliance standards.</a:t>
            </a:r>
          </a:p>
          <a:p/>
          <a:p>
            <a:r>
              <a:t>For policies, they developed six core governance documents. Their AI Development Policy defines mandatory stages for high-risk systems including risk assessment, data governance review, technical documentation, human oversight design, and compliance approval before deployment. Their Risk Management Policy establishes the framework for identifying, assessing, mitigating, and monitoring risks throughout the AI lifecycle. Their Data Governance Policy specifies requirements for training data quality, bias testing, data lineage, and documentation standards. Their Incident Response Policy defines what constitutes an AI incident, reporting procedures, investigation requirements, and regulatory notification timelines. Their Human Oversight Policy establishes oversight requirements based on risk classification with specific procedures for human intervention capabilities. Finally, their AI Transparency Policy defines disclosure requirements for systems interacting with users or making significant decisions affecting individuals.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walk through exactly how a company establishes their AI governance framework with concrete structures, specific role assignments, and formal policies that demonstrate systematic compliance. We'll follow TalentTech Solutions as they build their organizational foundation for managing their high-risk AI Recruitment Assistant, documenting every governance element with actual names, responsibilities, and authority levels that auditors expect to see.</a:t>
            </a:r>
          </a:p>
          <a:p/>
          <a:p>
            <a:r>
              <a:t>TalentTech begins by establishing their AI Governance Committee as the formal governing body with executive sponsorship and cross-functional representation. They document: "Committee Name: AI Governance Committee, Committee Chair: Rachel Thompson (Chief Risk Officer), Justification: Risk oversight central to AI Act compliance requires C-level authority and direct reporting to CEO. Committee Members: (1) David Chen, General Counsel—responsible for regulatory interpretation, legal risk assessment, and communication with regulatory authorities; (2) Sarah Chen, Chief Technology Officer—responsible for technical feasibility assessment, architecture review, and engineering resource allocation; (3) Michael Rodriguez, Data Engineering Lead—responsible for data governance, bias testing methodology, and dataset quality oversight; (4) Lisa Park, Head of Product—responsible for user impact assessment, business requirements validation, and stakeholder communication; (5) Jennifer Martinez, Compliance Manager—responsible for documentation coordination, audit preparation, and regulatory monitoring. Meeting Frequency: Monthly recurring meeting, second Tuesday of each month, with emergency meetings convened as needed for critical incidents or deployment decisions. Decision-Making Authority: Approve/reject high-risk AI system deployments, review and approve governance policies and significant policy changes, investigate and authorize response to serious incidents, authorize communications with market surveillance authorities, allocate compliance budget and resources, escalate critical issues to CEO and Board Risk Committee."</a:t>
            </a:r>
          </a:p>
          <a:p/>
          <a:p>
            <a:r>
              <a:t>They document their committee charter: "Purpose: The AI Governance Committee provides executive oversight of all high-risk AI systems deployed by TalentTech Solutions, ensuring EU AI Act compliance through systematic risk management, policy enforcement, and continuous monitoring. Scope: All high-risk AI systems as defined by Annex III, with particular focus on employment-related AI systems covered by our recruitment platform. Authority: Committee has authority to block system deployments that fail compliance requirements, mandate remediation activities, investigate incidents, and authorize regulatory communications. Reporting: Committee reports monthly to CEO and quarterly to Board Risk Committee, with immediate escalation for serious incidents or material compliance issues. Charter approved by CEO May 15, 2024, next review date May 15, 2025."</a:t>
            </a:r>
          </a:p>
          <a:p/>
          <a:p>
            <a:r>
              <a:t>TalentTech then defines specific role assignments with clear accountability. They document: "Role: AI Compliance Manager (Full-Time Dedicated), Assigned To: Jennifer Martinez (jennifer.martinez@talenttech.com), Responsibilities: (1) Maintain complete compliance documentation for all high-risk AI systems with version control and audit trails, (2) Coordinate quarterly gap assessments and track remediation progress, (3) Prepare for regulatory inspections including evidence compilation and interview coordination, (4) Serve as primary liaison with market surveillance authorities for compliance inquiries, (5) Monitor EU AI Act guidance documents and regulatory developments, distribute summaries to governance committee, (6) Coordinate conformity assessment activities with notified bodies. Authority: Block deployments of non-compliant systems pending governance committee review, request documentation and evidence from any team member, attend all technical design reviews for high-risk systems, escalate compliance concerns directly to CRO. Accountability: Reports to Chief Risk Officer with quarterly performance reviews assessing documentation quality, audit readiness, and regulatory relationship management."</a:t>
            </a:r>
          </a:p>
          <a:p/>
          <a:p>
            <a:r>
              <a:t>Additional role assignments include: "Role: AI System Owner (Recruitment Platform), Assigned To: Lisa Park, Responsibilities: Day-to-day compliance for recruitment AI including human oversight effectiveness, incident reporting, user complaint handling. Authority: Approve routine updates that don't change system behavior, mandatory sign-off for substantial modifications. Role: Data Governance Lead, Assigned To: Michael Rodriguez, Responsibilities: Enforce data quality standards, conduct bias testing per documented methodology, maintain data lineage documentation. Authority: Reject training datasets that fail quality criteria, mandate bias remediation before deployment. Role: Risk Management Lead, Assigned To: Rachel Thompson (CRO), Responsibilities: Maintain enterprise risk register, oversee risk assessment methodology, ensure mitigation measures implemented. Authority: Require risk reassessment for system modifications, mandate additional controls for high residual risks."</a:t>
            </a:r>
          </a:p>
          <a:p/>
          <a:p>
            <a:r>
              <a:t>Finally, TalentTech establishes six core governance policies with version control and approval records. For their AI Development Policy, they document: "AI Development Policy v1.0, Effective Date: May 20, 2024, Policy Owner: Sarah Chen (CTO), Approval Authority: AI Governance Committee (approved May 14, 2024), Next Review: November 20, 2024. Purpose: This policy establishes mandatory development stages, approval gates, and technical requirements for all high-risk AI systems to ensure EU AI Act compliance from design through deployment. Scope: Applies to all high-risk AI systems per Annex III classification. Key Requirements: (1) Mandatory risk assessment before development initiation, (2) Data governance sign-off before training, (3) Bias testing with documented thresholds before validation, (4) Human oversight design review before user testing, (5) Technical documentation completion before deployment, (6) Governance committee approval before production release. Enforcement: System deployments blocked by DevOps pipeline without documented approval at each gate."</a:t>
            </a:r>
          </a:p>
          <a:p/>
          <a:p>
            <a:r>
              <a:t>They document similar detailed policies for Risk Management Policy, Data Governance Policy, Incident Response Policy, Human Oversight Policy, and Transparency Policy, each with specific requirements, approval records, version control, and responsible owners. This comprehensive governance framework proves to auditors that TalentTech has embedded EU AI Act compliance into their organizational structure with clear executive sponsorship, cross-functional coordination, formal policies, and systematic oversight mechanisms that ensure sustainable compliance beyond any individual project or person.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management is the cornerstone of EU AI Act compliance for high-risk systems, and Article 9 doesn't just recommend risk management—it mandates a continuous, systematic, documented risk management system that operates throughout the entire AI system lifecycle from initial conception through development, deployment, post-market monitoring, and eventual retirement. This isn't about conducting a single risk assessment during development and calling it done. The regulation requires an established, repeatable process for identifying potential risks to health, safety, and fundamental rights; assessing the severity and probability of those risks; implementing mitigation measures that reduce risks to acceptable levels; documenting all risk activities with evidence; and continuously monitoring for new or changed risks as the system operates in production. Without this systematic approach, organizations cannot demonstrate they're managing AI risks responsibly, and regulators will view any compliance claims as unsubstantiated assertions rather than proven capabilities.</a:t>
            </a:r>
          </a:p>
          <a:p/>
          <a:p>
            <a:r>
              <a:t>Article 9 specifies that your risk management system must address risks throughout the AI lifecycle, not just at one point in time. This means identifying risks during initial system design when architectural decisions create inherent risk profiles, assessing risks during development as algorithms are trained and features are implemented, evaluating risks before deployment when the system will interact with real users and real data, monitoring risks during production operation when unexpected behaviors or edge cases emerge, and reassessing risks when the system is updated, retrained, or its operational context changes. Many organizations make the critical mistake of treating risk management as a pre-deployment checkpoint, conducting a thorough assessment before launch and then never revisiting it. This violates Article 9's continuous requirement and leaves organizations blind to emerging risks from model drift, data distribution shifts, new attack vectors, or changed operational contexts.</a:t>
            </a:r>
          </a:p>
          <a:p/>
          <a:p>
            <a:r>
              <a:t>Effective AI risk management requires several integrated components working together as a systematic capability. You need a risk register documenting all identified risks with clear descriptions, risk assessment methodology defining how you evaluate severity and likelihood consistently, risk mitigation catalog showing the specific measures you've implemented to reduce each risk, testing and validation evidence proving your mitigations work, monitoring mechanisms that detect risk indicators in production, and governance procedures defining who reviews risks, who approves risk acceptance decisions, and who escalates critical findings. This creates an auditable risk management trail demonstrating systematic control over AI system risks from conception through operational life.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how organizations implement Article 9 risk management by walking through a realistic scenario showing systematic risk identification, assessment methodology, mitigation implementation, and continuous monitoring. Understanding this practical application helps you build effective risk management for your own AI systems.</a:t>
            </a:r>
          </a:p>
          <a:p/>
          <a:p>
            <a:r>
              <a:t>Consider MediScan AI, a healthcare technology company operating an AI system that analyzes medical imaging to detect potential abnormalities and prioritize radiologist review queues. This is clearly a high-risk system under Annex III healthcare use cases, and risk management is absolutely critical because failures could delay diagnosis of serious conditions or create false alarms causing unnecessary procedures. Their compliance team begins implementing Article 9 by establishing a formal risk management system following ISO 31000 methodology adapted for AI-specific risks.</a:t>
            </a:r>
          </a:p>
          <a:p/>
          <a:p>
            <a:r>
              <a:t>They start with systematic risk identification using multiple techniques. First, they conduct hazard analysis workshops with radiologists, engineers, and patient safety experts to identify potential failure modes—what could go wrong and what would the consequences be. They identify risks including false negative errors where the AI fails to detect actual abnormalities, false positive errors creating unnecessary anxiety and procedures, algorithmic bias producing different accuracy across demographic groups, data quality issues from poor image resolution or artifacts, model drift as imaging equipment or protocols change over time, adversarial inputs attempting to manipulate AI outputs, and integration failures where the AI system doesn't communicate correctly with hospital information systems. For each identified risk, they document a clear risk statement following a structured format that specifies the hazard source, the risk event, and the potential consequence.</a:t>
            </a:r>
          </a:p>
          <a:p/>
          <a:p>
            <a:r>
              <a:t>For risk assessment, they use a standardized risk matrix evaluating both severity and likelihood. Severity is rated on a five-point scale from negligible to catastrophic based on potential patient harm, and likelihood is rated from rare to almost certain based on frequency estimates and historical data. A false negative missing a critical cancer diagnosis rates as catastrophic severity and possible likelihood, creating a critical risk level requiring immediate mitigation. A minor image quality warning triggering unnecessarily rates as negligible severity and occasional likelihood, creating a low risk level requiring monitoring but no immediate action.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walk through exactly how a company builds their Article 9 compliant risk management system with systematic risk identification, standardized assessment methodology, documented mitigation measures, and continuous monitoring. We'll follow TalentTech Solutions as they create their risk register for the AI Recruitment Assistant, documenting each risk with specific values and detailed mitigation controls that demonstrate systematic risk management to auditors.</a:t>
            </a:r>
          </a:p>
          <a:p/>
          <a:p>
            <a:r>
              <a:t>TalentTech begins systematic risk identification using the ISO 31000 risk management framework they adopted per their governance policy. They document their first high-priority risk: "Risk ID: R-001, Risk Statement: AI incorrectly screens out qualified candidates based on protected characteristics (gender, race, age), leading to discriminatory hiring decisions, legal liability under employment law, regulatory violations of EU AI Act Article 10, and significant reputational damage. Category: Algorithmic Bias/Fairness. Hazard: Biased training data or algorithmic patterns that correlate protected characteristics with hiring decisions. Event: Automated candidate screening produces systematically different acceptance rates across demographic groups. Consequence: Qualified candidates from protected groups incorrectly rejected, resulting in discrimination complaints, regulatory investigation, potential fines up to €30M or 6% global revenue under Article 71, loss of employer brand reputation, legal defense costs."</a:t>
            </a:r>
          </a:p>
          <a:p/>
          <a:p>
            <a:r>
              <a:t>They conduct rigorous risk assessment using their documented severity-likelihood matrix. "Severity Assessment: MAJOR (Level 4 of 5). Justification: Discriminatory hiring causes significant individual harm (career impact, financial loss, dignity violation), creates substantial legal liability (employment discrimination lawsuits, regulatory enforcement), damages organizational reputation (employer brand destruction, customer boycotts), and violates fundamental rights protected by EU law. Financial impact estimated €5-15M including legal costs, regulatory fines, and reputation recovery. Likelihood Assessment: POSSIBLE (Level 3 of 5). Justification: System processes 300+ applications weekly across diverse candidate pool, creating numerous opportunities for bias to manifest. Machine learning models can encode societal biases present in historical hiring data. Complex decision boundaries make bias difficult to detect without systematic testing. Historical evidence shows AI hiring tools have exhibited bias (e.g., Amazon recruiting tool discontinued for gender bias). Risk Level Calculation: MAJOR severity × POSSIBLE likelihood = HIGH RISK (requires immediate executive attention and comprehensive mitigation)."</a:t>
            </a:r>
          </a:p>
          <a:p/>
          <a:p>
            <a:r>
              <a:t>TalentTech documents comprehensive mitigation measures across multiple control layers: "Data Controls: Training dataset rebalanced to ensure equal representation across gender (48% female, 51% male, 1% non-binary), race/ethnicity (proportional to EU workforce demographics), and age groups (distributed across 22-65 age range). Dataset bias analysis conducted using AI Fairness 360 toolkit identifying and correcting 14 statistical bias indicators before training. Algorithmic Controls: Fairness constraints integrated into model training using demographic parity objective requiring acceptance rates within ±5% across demographic groups. Post-training fairness testing using three metrics: demographic parity (equal selection rates), equalized odds (equal true positive and false positive rates), calibration (equal precision across groups). Fairness testing conducted monthly with results reviewed by Data Governance Lead Michael Rodriguez. Monitoring Controls: Production hiring outcomes monitored continuously with statistical tests comparing acceptance rates across groups, automatic alerts triggered if disparity exceeds 10% threshold, quarterly bias audits by external fairness consultant Equitable AI Labs reviewing 12 months of hiring data. Human Oversight Controls: All AI recommendations reviewed by trained recruiters before decisions, mandatory human approval for candidate rejection, recruiter training on bias recognition and intervention procedures conducted bi-annually, escalation process for questionable AI recommendations. Governance Controls: AI Governance Committee quarterly review of fairness metrics, annual external audit of fairness testing methodology, documented remediation procedures if bias detected."</a:t>
            </a:r>
          </a:p>
          <a:p/>
          <a:p>
            <a:r>
              <a:t>They evaluate residual risk honestly: "Residual Risk Assessment: MEDIUM (Level 2 of 5). Justification: Despite comprehensive controls, residual risk remains because bias can emerge through subtle interaction effects difficult to detect with current testing methods, societal biases may manifest in ways not captured by standard fairness metrics, fairness-accuracy tradeoffs may create pressure to relax constraints, and human oversight effectiveness varies with recruiter training and workload. Residual Risk Acceptance: Medium residual risk accepted by AI Governance Committee with documented justification that additional risk reduction would require system redesign compromising core functionality. Risk Status: Active—risk actively managed with implemented controls and continuous monitoring." This detailed risk documentation proves systematic Article 9 compliance with clear assessment methodology, comprehensive multi-layered mitigation, honest residual risk evaluation, and governance oversight creating auditable evidence of responsible AI risk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documentation under Article 11 is the comprehensive evidence package that proves your high-risk AI system meets all regulatory requirements, and it serves as the foundation for conformity assessment, regulatory review, and ongoing compliance verification throughout the system's operational life. This isn't optional supplementary material—Article 11 mandates specific technical documentation that must be drawn up before your high-risk AI system is placed on the market, maintained and updated throughout the system lifecycle, and made available to regulatory authorities upon request. The documentation must be sufficiently detailed to enable authorities to assess the AI system's compliance with all applicable requirements, meaning vague descriptions, incomplete specifications, or missing evidence will fail regulatory scrutiny. Organizations that treat technical documentation as an afterthought or compliance formality rather than systematic evidence creation inevitably face painful scrambles during audits when regulators request specific documentation that should exist but doesn't.</a:t>
            </a:r>
          </a:p>
          <a:p/>
          <a:p>
            <a:r>
              <a:t>Article 11 specifies exactly what your technical documentation must contain, and the requirements are comprehensive covering every aspect of your AI system from conception through deployment. You must document your general system description including intended purpose, developer identity, deployment locations, and hardware-software specifications. You must provide detailed design specifications showing system architecture, data flow diagrams, model structures, and component interactions. You must maintain complete records of your training, validation, and testing datasets including data sources, collection methodologies, preprocessing steps, and quality assessments. You must document your AI models comprehensively with model cards showing architecture details, training procedures, performance metrics, limitations, and known biases. You must include all risk management documentation showing identified risks, assessments, mitigations, and monitoring procedures. You must maintain testing and validation evidence demonstrating your system meets performance, accuracy, robustness, and safety requirements. You must document your quality management system, human oversight measures, cybersecurity controls, and any technical modifications made after initial deployment.</a:t>
            </a:r>
          </a:p>
          <a:p/>
          <a:p>
            <a:r>
              <a:t>The challenge organizations face with Article 11 is not understanding what's required—the regulation is explicit—but rather creating documentation systematically during development rather than reconstructing it retrospectively for compliance. Documentation created during actual development naturally includes implementation details, design decisions, test results, and evidence because it serves engineering purposes. Documentation created months later for compliance purposes becomes a painful archeology project excavating information from code repositories, ticket systems, Slack conversations, and team members' memories, inevitably producing incomplete, vague, or inaccurate documentation that fails regulatory review. The Implementation Lab's technical documentation module helps you create Article 11 compliant documentation systematically by guiding you through required components, providing templates that match regulatory specifications, and generating professional documentation packages that satisfy conformity assessment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how organizations create Article 11 technical documentation by walking through a realistic scenario showing systematic documentation creation, required components, and the level of detail regulators expect. Understanding this practical implementation helps you produce documentation that satisfies conformity assessment without overwhelming your development team.</a:t>
            </a:r>
          </a:p>
          <a:p/>
          <a:p>
            <a:r>
              <a:t>Consider CreditWise AI, a financial services company operating an AI-based credit scoring system classified as high-risk under Annex III access to financial services. Their compliance team realized their existing system documentation was entirely inadequate for Article 11 requirements. They had architecture diagrams in Confluence, model training notebooks in Git repositories, and testing reports in spreadsheets, but nothing approaching the comprehensive, integrated technical documentation package Article 11 mandates. They decided to build Article 11 documentation systematically using structured templates rather than attempting to assemble scattered materials.</a:t>
            </a:r>
          </a:p>
          <a:p/>
          <a:p>
            <a:r>
              <a:t>They began with the General System Description section documenting their intended purpose precisely as "automated credit risk assessment for consumer lending decisions, providing credit scores and lending recommendations to financial institution underwriters." They specified their geographic deployment as European Union member states, identified their organization as the provider, documented their hardware infrastructure including cloud platforms and compute specifications, and listed all software dependencies with version numbers. This seemingly basic information is critical because it establishes regulatory scope, jurisdiction, provider obligations, and system boundaries for all subsequent documentation.</a:t>
            </a:r>
          </a:p>
          <a:p/>
          <a:p>
            <a:r>
              <a:t>For the Detailed Design Specification, they created comprehensive architecture diagrams showing data ingestion pipelines, feature engineering processes, model training infrastructure, inference serving systems, and integration points with lending platforms. They documented data flow from source systems through preprocessing, model inference, and results delivery with security controls at each stage. They specified their model architecture using gradient boosted decision trees with hyperparameter configurations, training procedures, and validation approaches. They included component interaction diagrams showing how their AI system communicates with identity verification services, credit bureau APIs, fraud detection systems, and underwriting platforms. This level of technical detail enables regulators to understand exactly how the system works and assess whether the implementation aligns with stated purposes and risk mitigations.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walk through a complete Article 11 technical documentation example showing exactly how a company creates comprehensive evidence packages that satisfy conformity assessment requirements, with specific technical details, documented design decisions, and the level of evidence regulators expect during audits. We'll follow TalentTech Solutions as they build their complete technical documentation for the AI Recruitment Assistant, demonstrating systematic documentation creation across all twenty-two Article 11 required elements with actual implementation details.</a:t>
            </a:r>
          </a:p>
          <a:p/>
          <a:p>
            <a:r>
              <a:t>TalentTech begins with their General System Description section, establishing foundational information for all subsequent documentation. They document: "Intended Purpose: Automated resume screening and candidate ranking for employment hiring decisions, providing recruiters with prioritized candidate lists and qualification assessments to support hiring evaluations. Provider: TalentTech Solutions GmbH, Kantstrasse 45, 10625 Berlin, Germany. Contact: compliance@talenttech-solutions.de. EU Authorized Representative: Dr. Klaus Werner (regulatory-affairs@talenttech-solutions.de). Deployment: European Union member states (Germany, France, Netherlands, Belgium, Austria, Poland). System Version: v2.3.1 deployed May 15, 2024. Previous Version: v2.2.0 (March 2024) with updated fairness constraints and enhanced bias detection." They document their complete technology stack: "Cloud Infrastructure: AWS eu-central-1 region (Frankfurt). Compute: 4x m5.2xlarge instances (8 vCPU, 32 GB RAM each) for model serving. Storage: Amazon S3 for training data and model artifacts, Amazon RDS PostgreSQL 14.7 for application data. Operating System: Ubuntu 22.04 LTS. Programming Languages: Python 3.11 for ML pipeline, TypeScript 4.9 for application backend. ML Framework: scikit-learn 1.3.0, XGBoost 1.7.5. Dependencies: pandas 2.0.2, numpy 1.24.3, fairlearn 0.9.0 for fairness constraints." This comprehensive specification enables regulators to understand exactly what technical environment supports their AI system and assess whether infrastructure provides adequate robustness and security.</a:t>
            </a:r>
          </a:p>
          <a:p/>
          <a:p>
            <a:r>
              <a:t>They create detailed design specifications with comprehensive architecture documentation. Their system architecture diagram shows five major components with documented interactions: "Data Ingestion Layer: Connects to applicant tracking systems via REST APIs, receives resume documents in PDF and DOCX formats, validates file integrity and scans for malware using ClamAV, stores raw documents in S3 with encryption at rest. Resume Parsing Service: Extracts text using Apache Tika, removes PII beyond job-relevant information using regex patterns and NER models, standardizes formatting, produces structured JSON with education (degree, field, institution, graduation year), experience (companies, titles, durations, descriptions), skills (technical skills list, certifications), and qualifications (minimum requirement matching flags). Feature Engineering Pipeline: Transforms parsed resume data into 247 numerical features including education level encoding (0-5 scale), years of relevant experience, skill match scores (cosine similarity to job requirements), qualification flags (boolean indicators), and derived features (career progression rate, skill diversity index). ML Model Service: XGBoost gradient boosted decision tree ensemble with 100 estimators, max depth 6, learning rate 0.1, trained with fairness constraints requiring demographic parity within ±5% across gender and ±8% across age groups, produces candidate scores 0-100. Ranking and Delivery Service: Combines ML scores with rule-based minimum qualification filters, produces ranked candidate list, delivers results via REST API with JSON response format to recruiter dashboards." This level of architectural detail demonstrates systematic design with privacy protections, fairness considerations, and integration patterns that enable independent regulatory assessment.</a:t>
            </a:r>
          </a:p>
          <a:p/>
          <a:p>
            <a:r>
              <a:t>TalentTech documents their training data comprehensively: "Training Dataset: 127,543 historical resumes from recruiting campaigns 2021-2023 across 15 job categories. Data Sources: Internal applicant tracking system with hiring outcomes (hired, interviewed, rejected). Demographics: Gender distribution 52% male, 46% female, 2% non-binary; age distribution 18-25 (12%), 26-35 (38%), 36-45 (31%), 46-55 (14%), 56+ (5%); geographic distribution across 8 EU countries proportional to company operations. Preprocessing: PII removal beyond job-relevant information, standardization of education credentials to EU qualification framework, experience description cleaning, skill taxonomy mapping to standard occupation classification. Quality Assessment: Completeness validation (reject resumes missing education or experience sections, 3.2% rejection rate), consistency checking (flag logical inconsistencies like graduation dates after experience start dates, 1.8% flagged), bias testing using Aequitas toolkit identifying and correcting 6 statistical bias indicators before training. Data Governance: Annual dataset refresh maintaining demographic balance, bias monitoring dashboard tracking distribution shifts, documented data retention policy." They document validation data with equal rigor: "Validation Dataset: 18,234 resumes held out from training, stratified sampling ensuring demographic proportions match training data within ±2%, temporal split using most recent 6 months to test performance on current candidate pool." Their model documentation follows model card best practices: "Architecture: XGBoost gradient boosted decision tree ensemble. Hyperparameters: n_estimators=100, max_depth=6, learning_rate=0.1, subsample=0.8, colsample_bytree=0.8, reg_alpha=0.1, reg_lambda=1.0. Training Procedure: 5-fold cross-validation with fairness constraints, early stopping monitoring validation loss, trained on 8x NVIDIA V100 GPUs over 4.2 hours. Performance Metrics: Overall accuracy 84.3%, precision 81.7%, recall 79.2%, F1 score 80.4%. Fairness Metrics: Demographic parity gender gap 3.1% (within ±5% threshold), age group equalized odds maximum difference 4.7% (within ±8% threshold). Known Limitations: Lower accuracy for creative roles lacking structured skill requirements (accuracy 71.2%), difficulty assessing non-traditional career paths, performance degradation for job categories with fewer than 500 training examples."</a:t>
            </a:r>
          </a:p>
          <a:p/>
          <a:p>
            <a:r>
              <a:t>TalentTech compiles comprehensive testing evidence demonstrating compliance across all requirements. Their accuracy testing shows performance against established benchmarks with methodology documentation. Their fairness testing includes statistical analysis: "Fairness Testing Methodology: Aequitas bias audit analyzing 12 fairness metrics across gender, age, and education background. Results: All metrics within acceptable thresholds defined by governance policy. Demographic parity difference 3.1% for gender (threshold ±5%), equalized odds difference 4.7% for age groups (threshold ±8%), calibration difference 2.8% across education levels (threshold ±5%). Mitigation Measures: Fairness constraints integrated into training objective, post-processing calibration ensuring equal acceptance rates, monitoring dashboard tracking fairness metrics on production data." Their security testing documents: "Penetration Testing: Conducted by independent security firm SecureAudit GmbH April 2024, identified 2 medium-severity vulnerabilities (both remediated within 14 days), no high or critical findings. Vulnerability Assessment: Automated scanning using OWASP ZAP, dependency scanning using Snyk identifying 0 high-severity vulnerabilities in production dependencies." They document human oversight validation: "Human Override Testing: 50 recruiters evaluated 200 AI recommendations, override rate 12%, post-override hiring success rate 86% vs. 84% for AI-only decisions, demonstrating effective human judgment integration." This comprehensive testing evidence with documented methodology, specific results, and statistical significance provides the proof regulators require to assess compliance.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Post-market monitoring and incident management represent your continuous vigilance obligation after deploying high-risk AI systems, and the EU AI Act requires providers to actively monitor deployed systems, detect incidents and malfunctions, investigate root causes, implement corrective actions, and report serious incidents to regulatory authorities within strict timelines. This isn't passive observation waiting for users to complain—Article 61 and Article 62 mandate systematic post-market monitoring plans and serious incident reporting procedures that demonstrate you're actively overseeing your AI system's real-world performance and responding promptly when issues arise. Organizations that deploy high-risk AI systems and then shift attention elsewhere without continuous monitoring violate their ongoing compliance obligations and face regulatory penalties when unreported incidents eventually surface during audits or through user complaints reaching authorities directly.</a:t>
            </a:r>
          </a:p>
          <a:p/>
          <a:p>
            <a:r>
              <a:t>The EU AI Act defines serious incidents specifically as incidents that lead to death, serious damage to health, serious and irreversible disruption of critical infrastructure, breaches of fundamental rights, or other serious harm to persons or property. When serious incidents occur, providers must report to market surveillance authorities within fifteen days, and this reporting obligation is non-negotiable regardless of whether the incident was your fault, resulted from user error, or occurred due to external factors. The fifteen-day timeline starts when you become aware of the incident, not when you complete your investigation, so incident detection mechanisms must ensure timely awareness. Beyond regulatory reporting, incident management serves operational purposes including identifying systemic issues before they cause widespread harm, learning from failures to improve system reliability, demonstrating continuous improvement to stakeholders and customers, and building institutional knowledge about real-world AI system behavior that informs future development.</a:t>
            </a:r>
          </a:p>
          <a:p/>
          <a:p>
            <a:r>
              <a:t>Effective incident management requires several integrated components working as a systematic capability. You need incident detection mechanisms that identify when your AI system behaves unexpectedly, produces erroneous outputs, causes user harm, or violates operational boundaries—this includes automated monitoring, user feedback channels, customer complaints, and safety reporting. You require incident classification procedures that determine severity, assess whether regulatory reporting obligations trigger, and prioritize investigation and remediation efforts. You need investigation protocols that systematically determine root causes, identify contributing factors, and assess whether similar issues might affect other AI systems or deployments. You must implement corrective and preventive actions that remediate the specific incident and prevent recurrence through system updates, training data improvements, process changes, or deployment modifications. Finally, you need comprehensive documentation proving to regulators that you detected the incident promptly, investigated thoroughly, remediated appropriately, and reported when required.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how organizations implement incident management and post-market monitoring by walking through realistic scenarios showing detection mechanisms, investigation procedures, remediation actions, and regulatory reporting decisions. Understanding these practical examples helps you build effective incident response capabilities for your AI systems.</a:t>
            </a:r>
          </a:p>
          <a:p/>
          <a:p>
            <a:r>
              <a:t>Consider SafeDrive AI, an automotive technology company operating an AI-based driver assistance system that provides lane-keeping assistance and collision warnings in vehicles deployed across the European Union. This is clearly a high-risk system under Annex III critical infrastructure and safety components, so incident management is absolutely critical given potential safety consequences. SafeDrive has implemented comprehensive post-market monitoring with multiple detection mechanisms working together.</a:t>
            </a:r>
          </a:p>
          <a:p/>
          <a:p>
            <a:r>
              <a:t>Their automated monitoring systems continuously collect telemetry from deployed vehicles including system activation frequency, warning trigger rates, driver override patterns, and any anomalies or errors logged by the AI system. They analyze this data weekly looking for statistical deviations that might indicate emerging issues such as increased false positive warnings in specific weather conditions or unexpected system deactivations. They maintain customer feedback channels where drivers can report concerns, unexpected behaviors, or incidents through their mobile app and customer service hotline. They have established relationships with vehicle manufacturers who report field issues and warranty claims potentially related to the AI system. They monitor social media and online forums for user discussions mentioning their system and possible safety concerns.</a:t>
            </a:r>
          </a:p>
          <a:p/>
          <a:p>
            <a:r>
              <a:t>In March 2024, their monitoring detected a troubling pattern. Over a two-week period, they identified twelve reports from drivers in Northern Europe describing unexpected lane-keeping interventions during heavy snowfall, where the system appeared to misinterpret snow-covered lane markings and provided steering corrections that drivers found alarming. Three drivers reported near-miss incidents where they had to override the system aggressively to avoid potential collisions. SafeDrive's incident management team immediately classified this as a potentially serious incident requiring urgent investigation because it involves safety-critical functionality, multiple occurrences suggesting systematic rather than isolated issues, and potential for serious harm if drivers don't override appropriately.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walk through a complete incident management example showing exactly how a company detects, investigates, remediates, and reports a serious AI system incident with full documentation suitable for regulatory submission and audit defense. We'll follow TalentTech Solutions as they manage their first serious incident with their AI Recruitment Assistant, demonstrating systematic incident response from initial detection through corrective action completion and regulatory authority notification within the mandatory fifteen-day timeline.</a:t>
            </a:r>
          </a:p>
          <a:p/>
          <a:p>
            <a:r>
              <a:t>TalentTech's automated monitoring dashboard detected anomalous fairness metrics on March 15, 2024, triggering an immediate investigation. Their post-market monitoring system tracks twelve fairness indicators across demographic groups on production data, with automated alerts when metrics exceed predefined thresholds. The alert showed: "Demographic Parity Violation: Gender acceptance rate difference 11.2% (threshold ±5%), triggered by 347 candidate evaluations processed March 1-14, 2024. Statistical significance: p&lt;0.001." Three recruiters had independently contacted the compliance team during the same period expressing concerns that ranking results seemed inconsistent with candidate qualifications, providing convergent evidence from multiple detection channels. Jennifer Martinez, Compliance Manager, immediately initiated formal incident documentation recognizing the potential severity given employment discrimination implications.</a:t>
            </a:r>
          </a:p>
          <a:p/>
          <a:p>
            <a:r>
              <a:t>TalentTech created incident record INC-2024-001 with comprehensive initial documentation. "Incident ID: INC-2024-001. Detection Date: March 15, 2024 at 09:23 CET via automated fairness monitoring dashboard. Incident Description: AI recruitment system exhibited statistically significant differences in candidate ranking scores between demographic groups during March 1-14, 2024 operational period. Analysis of 2,347 candidate evaluations revealed candidates from underrepresented minority groups received average scores 12.3% lower than similarly qualified candidates from majority groups (measured by education level, years of experience, and skill match scores). Manual review of 50 representative cases by senior recruiters confirmed systematic ranking disparities not explained by objective qualification differences. Detection Method: Automated fairness monitoring alert triggered by demographic parity threshold violation; corroborated by independent recruiter concerns reported through feedback channels. Incident Category: Algorithmic Bias/Fairness. Affected Period: March 1-14, 2024 (14 days). Affected Population: Approximately 450 candidates from underrepresented demographic groups processed during incident period." They classified severity using Article 62 criteria for serious incidents. The incident potentially involves fundamental rights violations under EU non-discrimination law because employment decisions based on protected characteristics breach equality rights. Classification: Serious Incident requiring regulatory reporting within fifteen days from awareness date. Regulatory Reporting Deadline: March 30, 2024.</a:t>
            </a:r>
          </a:p>
          <a:p/>
          <a:p>
            <a:r>
              <a:t>Their impact assessment documented potential harm comprehensively. "Impact Assessment: Approximately 450 candidates from underrepresented groups potentially received systematically lower rankings than merited based on objective qualifications. Preliminary analysis identified 73 candidates who were screened out (not advanced to recruiter review) who would have been advanced under unbiased scoring. Actual hiring impact: 15 candidates confirmed affected by reviewing hiring decisions made during incident period, 4 candidates were incorrectly rejected who would have received job offers under fair evaluation. Legal Impact: Potential fundamental rights violation under EU Charter of Fundamental Rights Article 21 (non-discrimination) and Employment Equality Directive. Regulatory Risk: Article 71 penalties up to €30M or 6% global revenue for high-risk AI system violations. Reputational Risk: Employer brand damage, customer trust erosion if incident becomes public. Financial Impact: Estimated legal defense costs €200K-500K, potential discrimination lawsuit settlements, regulatory fine exposure." This frank assessment demonstrates organizational accountability and serious incident management.</a:t>
            </a:r>
          </a:p>
          <a:p/>
          <a:p>
            <a:r>
              <a:t>They conducted systematic root cause investigation using structured methodology. "Investigation Timeline: March 15-19, 2024 conducted by cross-functional team including ML engineers, data scientists, compliance manager, and external fairness consultant. Root Cause Analysis: Model retraining executed February 28, 2024 incorporated 8,742 new resume records from client TechStartup GmbH's historical hiring data covering 2020-2022. Pre-training bias assessment of this dataset identified concerning demographic patterns (acceptance rate differences of 14.6% across gender), but data was included after inadequate preprocessing that failed to fully mitigate bias. Specifically, feature engineering preserved job title history that correlated with protected characteristics, and fairness constraints during training used insufficiently stringent thresholds (±8% vs. production standard ±5%). Contributing Factors: (1) Retraining validation protocol did not include stratified fairness testing before production deployment, (2) monitoring dashboard aggregation period (weekly) delayed detection by up to 14 days, (3) data acceptance criteria lacked mandatory bias assessment gate with quantitative thresholds, (4) inadequate review of client-provided training data quality and bias characteristics. Underlying Systemic Issue: Model update process lacked sufficient fairness checkpoints between data ingestion and production deployment." This investigation identifies specific technical failures and process gaps enabling the incident.</a:t>
            </a:r>
          </a:p>
          <a:p/>
          <a:p>
            <a:r>
              <a:t>TalentTech implemented comprehensive corrective actions across immediate, medium-term, and long-term timeframes. "Immediate Remediation (March 15-16, 2024): Rolled back AI Recruitment Assistant to previous model version v2.2.0 deployed February 15, 2024, restoring validated fairness performance. Notified all clients using system during incident period about temporary service interruption for emergency maintenance. Began review of affected candidate evaluations to identify incorrectly screened-out individuals. Medium-Term Actions (March 17-April 5, 2024): Conducted comprehensive bias audit of all training data including TechStartup GmbH dataset, implemented enhanced preprocessing pipeline using Fairlearn AIF360 toolkit for bias mitigation, retrained model v2.3.2 with strengthened fairness constraints requiring demographic parity ±4% and equalized odds ±6%, conducted extensive stratified fairness testing across 8 demographic subgroups and 15 job categories validating performance before deployment, deployed updated model April 5, 2024 with documented fairness validation. Long-Term Prevention (April-May 2024): Enhanced monitoring dashboard to daily aggregation enabling faster incident detection, implemented real-time fairness alerts triggering within 24 hours of threshold violations, revised model update process requiring mandatory fairness review gate before production deployment with documented approval by compliance manager, updated data acceptance criteria mandating bias assessment with Aequitas toolkit for all training data before incorporation with quantitative thresholds (demographic parity ±5%, statistical parity ratio 0.8-1.2), implemented quarterly fairness audits of production system with external consultant validation. Responsible Parties: Sarah Chen (CTO) owns technical remediation, Jennifer Martinez (Compliance Manager) owns process improvements and regulatory reporting, Michael Rodriguez (Data Engineering Lead) owns data quality and bias testing implementation." Each action includes specific owner, completion date, and validation method.</a:t>
            </a:r>
          </a:p>
          <a:p/>
          <a:p>
            <a:r>
              <a:t>They completed regulatory reporting within the mandatory timeline. "Regulatory Notification: Submitted Article 62 serious incident report to German Federal Office for Information Security (BSI) as competent market surveillance authority on March 25, 2024 (10 days after awareness, within 15-day requirement). Report Contents: Complete incident description with detection method and timeline, affected population quantification, classification rationale under Article 62 fundamental rights breach criteria, root cause investigation findings, corrective actions implemented and planned with completion dates, contact information for follow-up inquiries. Follow-Up Reporting: Submitted supplementary report April 10, 2024 documenting completion of medium-term corrective actions and updated model deployment with fairness validation results. Affected User Notification: Notified 73 candidates identified as potentially affected by incident on March 28, 2024 with apology, explanation of incident, description of remediation, offer to re-evaluate applications, contact information for questions. Documentation Package: Complete incident report including monitoring data, investigation analysis, corrective action evidence, and regulatory correspondence maintained in incident management system for audit trail." This demonstrates full regulatory compliance with transparent, timely reporting and comprehensive remediation.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Congratulations on completing this comprehensive EU AI Act compliance journey! When you started this course, the EU AI Act likely felt overwhelming—a complex regulatory framework with unfamiliar terminology, demanding technical requirements, and uncertain implications for your AI systems. Now, after working systematically through eight detailed lectures and completing hands-on assignments, you've transformed that uncertainty into concrete capability. You understand exactly how the regulation works, where your AI systems fit within the regulatory framework, what compliance obligations apply to you, and most importantly, how to fulfill those obligations with professional documentation that would satisfy regulatory auditors.</a:t>
            </a:r>
          </a:p>
          <a:p/>
          <a:p>
            <a:r>
              <a:t>Let's review the complete compliance system you've built throughout this course. In Lecture Two, you learned how to conduct systematic scope assessments following TechRetail Solutions as they determined EU AI Act applicability for three different AI systems, establishing the three-stage framework of AI system definition, territorial scope, and role identification with documented regulatory justifications. In Lecture Three, you mastered risk classification by following TechRetail's analysis of their ShopAssist chatbot, learning to apply the four-tier risk framework systematically through prohibited practices evaluation, high-risk category assessment, transparency obligation determination, and final classification with Article citations. In Lecture Four, you conducted comprehensive gap assessment by analyzing TalentTech Solutions' evaluation showing thirty-seven percent compliance across twenty-four requirements, learning to document current state, identify specific gaps, assign responsibilities with named individuals, and create actionable remediation plans with target completion dates. In Lecture Five, you established AI governance frameworks by studying TalentTech's governance committee structure with specific members like Rachel Thompson as Committee Chair and Sarah Chen as CTO, learning to create formal accountability structures, define roles with contact information, and develop six core governance policies with version control and approval records.</a:t>
            </a:r>
          </a:p>
          <a:p/>
          <a:p>
            <a:r>
              <a:t>In Lecture Six, you implemented Article Nine risk management systems by analyzing TalentTech's Risk R-001 showing MAJOR severity, POSSIBLE likelihood, and HIGH risk level with financial impact estimates of five to fifteen million euros, learning systematic risk identification using hazard-event-consequence structure, severity-likelihood assessment methodology, comprehensive multi-layered mitigation controls, and residual risk evaluation with governance committee acceptance. In Lecture Seven, you created Article Eleven technical documentation by examining TalentTech's complete package with one hundred twenty-seven thousand training resumes, XGBoost architecture specifications, eighty-four point three percent accuracy metrics, and comprehensive fairness testing, learning to document provider information, technology stack, system architecture with five major components, model hyperparameters, performance metrics stratified by demographics, and testing evidence with documented methodology. In Lecture Eight, you built incident management capabilities by following TalentTech's handling of Incident INC-2024-001 showing eleven point two percent gender disparity detected on March fifteenth with regulatory reporting to German BSI within fifteen days, learning post-market monitoring with automated fairness alerts, systematic root cause investigation identifying biased training data, immediate rollback procedures, medium-term model retraining with strengthened fairness constraints, and long-term process improvements with mandatory fairness review gates. You've learned through detailed real-world examples how companies actually implement EU AI Act compliance with specific values, documented decisions, and audit-ready justifications.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Having built your initial compliance package, the next question is how to prepare for regulatory audits and maintain compliance as your AI systems evolve over time. Regulatory audits typically focus on three fundamental questions: Do you understand your compliance obligations? Have you implemented required controls and documentation? Can you demonstrate continuous compliance rather than point-in-time achievements? Your course deliverables directly address these questions with documented evidence proving systematic compliance.</a:t>
            </a:r>
          </a:p>
          <a:p/>
          <a:p>
            <a:r>
              <a:t>When preparing for audits, organize your documentation systematically following the regulatory structure auditors use. Create a compliance evidence index showing where each EU AI Act article's requirements are addressed in your documentation. Your risk classification report demonstrates Article Six and Annex Three compliance. Your risk management documentation proves Article Nine compliance. Your technical documentation package addresses Article Eleven and Annex Four requirements. Your governance framework shows Article Seventeen quality management compliance. Your incident management system demonstrates post-market monitoring under Article Seventy-Two. Cross-reference related documentation so auditors can trace from requirements through implementation to evidence easily. For example, a risk identified in your risk register should link to specific mitigation measures in your technical documentation and monitoring procedures in your incident management plan.</a:t>
            </a:r>
          </a:p>
          <a:p/>
          <a:p>
            <a:r>
              <a:t>Ongoing compliance requires treating your documentation as living artifacts that evolve with your AI systems rather than static compliance snapshots. Establish documentation maintenance procedures defining when updates are required, who is responsible for updates, what approval processes apply, and how version control tracks changes over time. Typical update triggers include model retraining or architecture changes requiring updated technical documentation showing new hyperparameters and performance metrics, new risks identified through monitoring requiring risk register updates with fresh assessments and mitigation strategies, policy changes requiring governance documentation revisions with new version numbers and approval dates, incidents requiring corrective action documentation with root cause analysis and implemented controls, and regulatory guidance updates requiring compliance reassessment with revised interpretations and updated article citations. Schedule regular compliance reviews quarterly or semi-annually where your AI governance committee reviews all documentation for accuracy, completeness, and currency, following the same structured governance approach you learned from TalentTech's monthly committee meetings. Treat compliance as continuous organizational capability embedded in your development and operations rather than periodic compliance projects, maintaining the systematic documentation practices you've mastered throughout this course as your AI systems evolve.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You're now ready for your final comprehensive project that brings together everything you've learned throughout this course into a complete, integrated EU AI Act compliance portfolio for your AI system. This final project requires you to review, integrate, and finalize all the documentation you've created, ensuring cross-references work correctly, information remains consistent across documents, evidence supports all claims, and your compliance package tells a coherent story to regulatory auditors. This is your professional compliance portfolio that demonstrates systematic EU AI Act compliance from initial scope assessment through ongoing post-market monitoring.</a:t>
            </a:r>
          </a:p>
          <a:p/>
          <a:p>
            <a:r>
              <a:t>Your final project deliverable is a comprehensive compliance portfolio containing all eight major documentation components you've developed throughout the course: your risk classification report with regulatory justification and applicable requirements; your gap assessment report showing current compliance position, identified gaps, and action items; your governance documentation package including committee charter, roles and responsibilities, and six core policies; your risk management report with comprehensive risk register, assessment methodology, and mitigation catalog; your Article Eleven technical documentation package covering system description, architecture, data, models, and testing evidence; your incident management report with post-market monitoring plan and incident procedures; your compliance evidence index mapping each EU AI Act requirement to specific documentation sections; and your executive summary presenting your compliance approach, achievements, and ongoing maintenance plans suitable for senior leadership and regulatory overview.</a:t>
            </a:r>
          </a:p>
          <a:p/>
          <a:p>
            <a:r>
              <a:t>Beyond completing this course, your EU AI Act compliance journey continues with ongoing maintenance, continuous improvement, and regulatory development tracking. Maintain your compliance documentation using the systematic approaches you've learned throughout this course, updating your risk classification reports as system scope changes, refreshing your gap assessments as you implement remediation actions, revising your governance policies as organizational structures evolve, updating your risk registers as new risks emerge or mitigations prove effective, expanding your technical documentation as architectures change or models are retrained, and adding new incidents to your incident management records as post-market monitoring detects issues. Stay informed about EU AI Act developments including implementing regulations, harmonized standards, regulatory interpretations, and enforcement precedents that clarify compliance expectations. Consider advanced training on specific topics like conformity assessment procedures, CE marking requirements for high-risk systems, or sector-specific guidance for your industry. Engage with professional communities, industry associations, and compliance networks to share knowledge and learn from others' experiences. Most importantly, view compliance not as a burden but as responsible AI development practice that builds trust, reduces risk, and demonstrates your commitment to deploying AI systems that respect fundamental rights and safety.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371600"/>
          </a:xfrm>
          <a:prstGeom prst="rect">
            <a:avLst/>
          </a:prstGeom>
          <a:noFill/>
        </p:spPr>
        <p:txBody>
          <a:bodyPr wrap="none">
            <a:spAutoFit/>
          </a:bodyPr>
          <a:lstStyle/>
          <a:p>
            <a:pPr algn="ctr">
              <a:defRPr sz="4400" b="1">
                <a:solidFill>
                  <a:srgbClr val="003366"/>
                </a:solidFill>
              </a:defRPr>
            </a:pPr>
            <a:r>
              <a:t>EU AI Act Compliance</a:t>
            </a:r>
          </a:p>
        </p:txBody>
      </p:sp>
      <p:sp>
        <p:nvSpPr>
          <p:cNvPr id="3" name="TextBox 2"/>
          <p:cNvSpPr txBox="1"/>
          <p:nvPr/>
        </p:nvSpPr>
        <p:spPr>
          <a:xfrm>
            <a:off x="914400" y="3474720"/>
            <a:ext cx="7315200" cy="1828800"/>
          </a:xfrm>
          <a:prstGeom prst="rect">
            <a:avLst/>
          </a:prstGeom>
          <a:noFill/>
        </p:spPr>
        <p:txBody>
          <a:bodyPr wrap="none">
            <a:spAutoFit/>
          </a:bodyPr>
          <a:lstStyle/>
          <a:p>
            <a:pPr algn="ctr">
              <a:defRPr sz="2400">
                <a:solidFill>
                  <a:srgbClr val="404040"/>
                </a:solidFill>
              </a:defRPr>
            </a:pPr>
            <a:r>
              <a:t>Build Audit-Ready Documentation</a:t>
            </a:r>
          </a:p>
          <a:p>
            <a:pPr algn="ctr">
              <a:defRPr sz="2400">
                <a:solidFill>
                  <a:srgbClr val="404040"/>
                </a:solidFill>
              </a:defRPr>
            </a:pPr>
          </a:p>
          <a:p>
            <a:pPr algn="ctr">
              <a:defRPr sz="2400">
                <a:solidFill>
                  <a:srgbClr val="404040"/>
                </a:solidFill>
              </a:defRPr>
            </a:pPr>
            <a:r>
              <a:t>Complete Course Presentation</a:t>
            </a:r>
          </a:p>
          <a:p>
            <a:pPr algn="ctr">
              <a:defRPr sz="2400">
                <a:solidFill>
                  <a:srgbClr val="404040"/>
                </a:solidFill>
              </a:defRPr>
            </a:pPr>
            <a:r>
              <a:t>9 Lectures | 27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1: Course Introduction</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20-25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L1: Welcome to EU AI Act Implementation: Transform Theory into Practice</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Professional web application powered by Gemini AI</a:t>
            </a:r>
          </a:p>
          <a:p>
            <a:pPr>
              <a:spcBef>
                <a:spcPts val="600"/>
              </a:spcBef>
              <a:spcAft>
                <a:spcPts val="600"/>
              </a:spcAft>
              <a:defRPr sz="1800">
                <a:solidFill>
                  <a:srgbClr val="404040"/>
                </a:solidFill>
              </a:defRPr>
            </a:pPr>
            <a:r>
              <a:t>Risk reports, gap assessments, governance frameworks, technical files</a:t>
            </a:r>
          </a:p>
          <a:p>
            <a:pPr>
              <a:spcBef>
                <a:spcPts val="600"/>
              </a:spcBef>
              <a:spcAft>
                <a:spcPts val="600"/>
              </a:spcAft>
              <a:defRPr sz="1800">
                <a:solidFill>
                  <a:srgbClr val="404040"/>
                </a:solidFill>
              </a:defRPr>
            </a:pPr>
            <a:r>
              <a:t>Generate real compliance packages ready for regulatory review</a:t>
            </a:r>
          </a:p>
          <a:p>
            <a:pPr>
              <a:spcBef>
                <a:spcPts val="600"/>
              </a:spcBef>
              <a:spcAft>
                <a:spcPts val="600"/>
              </a:spcAft>
              <a:defRPr sz="1800">
                <a:solidFill>
                  <a:srgbClr val="404040"/>
                </a:solidFill>
              </a:defRPr>
            </a:pPr>
            <a:r>
              <a:t>Build actual documentation for your organization</a:t>
            </a:r>
          </a:p>
          <a:p>
            <a:pPr>
              <a:spcBef>
                <a:spcPts val="600"/>
              </a:spcBef>
              <a:spcAft>
                <a:spcPts val="600"/>
              </a:spcAft>
              <a:defRPr sz="1800">
                <a:solidFill>
                  <a:srgbClr val="404040"/>
                </a:solidFill>
              </a:defRPr>
            </a:pPr>
            <a:r>
              <a:t>Learn from practical regulatory implementation experience</a:t>
            </a:r>
          </a:p>
          <a:p>
            <a:pPr>
              <a:spcBef>
                <a:spcPts val="600"/>
              </a:spcBef>
              <a:spcAft>
                <a:spcPts val="600"/>
              </a:spcAft>
              <a:defRPr sz="1800">
                <a:solidFill>
                  <a:srgbClr val="404040"/>
                </a:solidFill>
              </a:defRPr>
            </a:pPr>
            <a:r>
              <a:t>Skills translate directly to real-world compliance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L1: What You</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Catalog organizational AI using regulatory definitions</a:t>
            </a:r>
          </a:p>
          <a:p>
            <a:pPr>
              <a:spcBef>
                <a:spcPts val="600"/>
              </a:spcBef>
              <a:spcAft>
                <a:spcPts val="600"/>
              </a:spcAft>
              <a:defRPr sz="1800">
                <a:solidFill>
                  <a:srgbClr val="404040"/>
                </a:solidFill>
              </a:defRPr>
            </a:pPr>
            <a:r>
              <a:t>Classify systems into four-tier risk framework with justification</a:t>
            </a:r>
          </a:p>
          <a:p>
            <a:pPr>
              <a:spcBef>
                <a:spcPts val="600"/>
              </a:spcBef>
              <a:spcAft>
                <a:spcPts val="600"/>
              </a:spcAft>
              <a:defRPr sz="1800">
                <a:solidFill>
                  <a:srgbClr val="404040"/>
                </a:solidFill>
              </a:defRPr>
            </a:pPr>
            <a:r>
              <a:t>Build comprehensive technical files for high-risk AI systems</a:t>
            </a:r>
          </a:p>
          <a:p>
            <a:pPr>
              <a:spcBef>
                <a:spcPts val="600"/>
              </a:spcBef>
              <a:spcAft>
                <a:spcPts val="600"/>
              </a:spcAft>
              <a:defRPr sz="1800">
                <a:solidFill>
                  <a:srgbClr val="404040"/>
                </a:solidFill>
              </a:defRPr>
            </a:pPr>
            <a:r>
              <a:t>Establish organizational structures, roles, policies, and accountability mechanisms</a:t>
            </a:r>
          </a:p>
          <a:p>
            <a:pPr>
              <a:spcBef>
                <a:spcPts val="600"/>
              </a:spcBef>
              <a:spcAft>
                <a:spcPts val="600"/>
              </a:spcAft>
              <a:defRPr sz="1800">
                <a:solidFill>
                  <a:srgbClr val="404040"/>
                </a:solidFill>
              </a:defRPr>
            </a:pPr>
            <a:r>
              <a:t>Design risk assessment, mitigation, and monitoring processes</a:t>
            </a:r>
          </a:p>
          <a:p>
            <a:pPr>
              <a:spcBef>
                <a:spcPts val="600"/>
              </a:spcBef>
              <a:spcAft>
                <a:spcPts val="600"/>
              </a:spcAft>
              <a:defRPr sz="1800">
                <a:solidFill>
                  <a:srgbClr val="404040"/>
                </a:solidFill>
              </a:defRPr>
            </a:pPr>
            <a:r>
              <a:t>Produce audit-ready documentation using AI-powered tools</a:t>
            </a:r>
          </a:p>
          <a:p>
            <a:pPr>
              <a:spcBef>
                <a:spcPts val="600"/>
              </a:spcBef>
              <a:spcAft>
                <a:spcPts val="600"/>
              </a:spcAft>
              <a:defRPr sz="1800">
                <a:solidFill>
                  <a:srgbClr val="404040"/>
                </a:solidFill>
              </a:defRPr>
            </a:pPr>
            <a:r>
              <a:t>Create role-based training and qualification tracking systems</a:t>
            </a:r>
          </a:p>
          <a:p>
            <a:pPr>
              <a:spcBef>
                <a:spcPts val="600"/>
              </a:spcBef>
              <a:spcAft>
                <a:spcPts val="600"/>
              </a:spcAft>
              <a:defRPr sz="1800">
                <a:solidFill>
                  <a:srgbClr val="404040"/>
                </a:solidFill>
              </a:defRPr>
            </a:pPr>
            <a:r>
              <a:t>Design detection, reporting, investigation, and resolution workflows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L1: Your Learning Path: 10 Modules from Foundation to Mastery</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2: Understanding the EU AI Act</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25-30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L2: The EU AI Act Framework: Scope, Definitions, and Risk-Based Approach</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Four-tier risk-based regulatory framework</a:t>
            </a:r>
          </a:p>
          <a:p>
            <a:pPr>
              <a:spcBef>
                <a:spcPts val="600"/>
              </a:spcBef>
              <a:spcAft>
                <a:spcPts val="600"/>
              </a:spcAft>
              <a:defRPr sz="1800">
                <a:solidFill>
                  <a:srgbClr val="404040"/>
                </a:solidFill>
              </a:defRPr>
            </a:pPr>
            <a:r>
              <a:t>Precise definitions determine applicability and obligations</a:t>
            </a:r>
          </a:p>
          <a:p>
            <a:pPr>
              <a:spcBef>
                <a:spcPts val="600"/>
              </a:spcBef>
              <a:spcAft>
                <a:spcPts val="600"/>
              </a:spcAft>
              <a:defRPr sz="1800">
                <a:solidFill>
                  <a:srgbClr val="404040"/>
                </a:solidFill>
              </a:defRPr>
            </a:pPr>
            <a:r>
              <a:t>Different obligations for providers versus deployers</a:t>
            </a:r>
          </a:p>
          <a:p>
            <a:pPr>
              <a:spcBef>
                <a:spcPts val="600"/>
              </a:spcBef>
              <a:spcAft>
                <a:spcPts val="600"/>
              </a:spcAft>
              <a:defRPr sz="1800">
                <a:solidFill>
                  <a:srgbClr val="404040"/>
                </a:solidFill>
              </a:defRPr>
            </a:pPr>
            <a:r>
              <a:t>Territorial scope extends beyond EU borders</a:t>
            </a:r>
          </a:p>
          <a:p>
            <a:pPr>
              <a:spcBef>
                <a:spcPts val="600"/>
              </a:spcBef>
              <a:spcAft>
                <a:spcPts val="600"/>
              </a:spcAft>
              <a:defRPr sz="1800">
                <a:solidFill>
                  <a:srgbClr val="404040"/>
                </a:solidFill>
              </a:defRPr>
            </a:pPr>
            <a:r>
              <a:t>Enforcement mechanisms include substantial financial penalties</a:t>
            </a:r>
          </a:p>
          <a:p>
            <a:pPr>
              <a:spcBef>
                <a:spcPts val="600"/>
              </a:spcBef>
              <a:spcAft>
                <a:spcPts val="600"/>
              </a:spcAft>
              <a:defRPr sz="1800">
                <a:solidFill>
                  <a:srgbClr val="404040"/>
                </a:solidFill>
              </a:defRPr>
            </a:pPr>
            <a:r>
              <a:t>Compliance timeline varies by risk category</a:t>
            </a:r>
          </a:p>
          <a:p>
            <a:pPr>
              <a:spcBef>
                <a:spcPts val="600"/>
              </a:spcBef>
              <a:spcAft>
                <a:spcPts val="600"/>
              </a:spcAft>
              <a:defRPr sz="1800">
                <a:solidFill>
                  <a:srgbClr val="404040"/>
                </a:solidFill>
              </a:defRPr>
            </a:pPr>
            <a:r>
              <a:t>Exemptions exist for specific use cases</a:t>
            </a:r>
          </a:p>
          <a:p>
            <a:pPr>
              <a:spcBef>
                <a:spcPts val="600"/>
              </a:spcBef>
              <a:spcAft>
                <a:spcPts val="600"/>
              </a:spcAft>
              <a:defRPr sz="1800">
                <a:solidFill>
                  <a:srgbClr val="404040"/>
                </a:solidFill>
              </a:defRPr>
            </a:pPr>
            <a:r>
              <a:t>Regulatory oversight structure includes multiple authorities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L2: How Organizations Apply EU AI Act Scope Assessment</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L2: Scope Assessment in Practice: Determining EU AI Act Applicability</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TalentTech assesses AI Recruitment Assistant using systematic scope framework</a:t>
            </a:r>
          </a:p>
          <a:p>
            <a:pPr>
              <a:spcBef>
                <a:spcPts val="600"/>
              </a:spcBef>
              <a:spcAft>
                <a:spcPts val="600"/>
              </a:spcAft>
              <a:defRPr sz="1800">
                <a:solidFill>
                  <a:srgbClr val="404040"/>
                </a:solidFill>
              </a:defRPr>
            </a:pPr>
            <a:r>
              <a:t>Three-stage framework: AI system definition, territorial scope, role identification</a:t>
            </a:r>
          </a:p>
          <a:p>
            <a:pPr>
              <a:spcBef>
                <a:spcPts val="600"/>
              </a:spcBef>
              <a:spcAft>
                <a:spcPts val="600"/>
              </a:spcAft>
              <a:defRPr sz="1800">
                <a:solidFill>
                  <a:srgbClr val="404040"/>
                </a:solidFill>
              </a:defRPr>
            </a:pPr>
            <a:r>
              <a:t>Stage 1: System qualifies as AI per Article 3(1) using XGBoost and NLP</a:t>
            </a:r>
          </a:p>
          <a:p>
            <a:pPr>
              <a:spcBef>
                <a:spcPts val="600"/>
              </a:spcBef>
              <a:spcAft>
                <a:spcPts val="600"/>
              </a:spcAft>
              <a:defRPr sz="1800">
                <a:solidFill>
                  <a:srgbClr val="404040"/>
                </a:solidFill>
              </a:defRPr>
            </a:pPr>
            <a:r>
              <a:t>Stage 2: In scope per Article 2(1) serving 12 EU member states, 127K resumes</a:t>
            </a:r>
          </a:p>
          <a:p>
            <a:pPr>
              <a:spcBef>
                <a:spcPts val="600"/>
              </a:spcBef>
              <a:spcAft>
                <a:spcPts val="600"/>
              </a:spcAft>
              <a:defRPr sz="1800">
                <a:solidFill>
                  <a:srgbClr val="404040"/>
                </a:solidFill>
              </a:defRPr>
            </a:pPr>
            <a:r>
              <a:t>Stage 3: TalentTech is provider per Article 3(2) with full regulatory obligations</a:t>
            </a:r>
          </a:p>
          <a:p>
            <a:pPr>
              <a:spcBef>
                <a:spcPts val="600"/>
              </a:spcBef>
              <a:spcAft>
                <a:spcPts val="600"/>
              </a:spcAft>
              <a:defRPr sz="1800">
                <a:solidFill>
                  <a:srgbClr val="404040"/>
                </a:solidFill>
              </a:defRPr>
            </a:pPr>
            <a:r>
              <a:t>Provider role means responsibility for Articles 9/11/17/43/49/72 compliance</a:t>
            </a:r>
          </a:p>
          <a:p>
            <a:pPr>
              <a:spcBef>
                <a:spcPts val="600"/>
              </a:spcBef>
              <a:spcAft>
                <a:spcPts val="600"/>
              </a:spcAft>
              <a:defRPr sz="1800">
                <a:solidFill>
                  <a:srgbClr val="404040"/>
                </a:solidFill>
              </a:defRPr>
            </a:pPr>
            <a:r>
              <a:t>Employment focus triggers Annex III assessment for high-risk classification</a:t>
            </a:r>
          </a:p>
          <a:p>
            <a:pPr>
              <a:spcBef>
                <a:spcPts val="600"/>
              </a:spcBef>
              <a:spcAft>
                <a:spcPts val="600"/>
              </a:spcAft>
              <a:defRPr sz="1800">
                <a:solidFill>
                  <a:srgbClr val="404040"/>
                </a:solidFill>
              </a:defRPr>
            </a:pPr>
            <a:r>
              <a:t>Formal Scope Assessment Report documents determination with article citations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3: Risk Classification</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25-30 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L3: The Four-Tier Risk Framework: Classification Methodology</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Four distinct risk tiers with different obligations</a:t>
            </a:r>
          </a:p>
          <a:p>
            <a:pPr>
              <a:spcBef>
                <a:spcPts val="600"/>
              </a:spcBef>
              <a:spcAft>
                <a:spcPts val="600"/>
              </a:spcAft>
              <a:defRPr sz="1800">
                <a:solidFill>
                  <a:srgbClr val="404040"/>
                </a:solidFill>
              </a:defRPr>
            </a:pPr>
            <a:r>
              <a:t>Prohibited practices cannot be deployed in EU</a:t>
            </a:r>
          </a:p>
          <a:p>
            <a:pPr>
              <a:spcBef>
                <a:spcPts val="600"/>
              </a:spcBef>
              <a:spcAft>
                <a:spcPts val="600"/>
              </a:spcAft>
              <a:defRPr sz="1800">
                <a:solidFill>
                  <a:srgbClr val="404040"/>
                </a:solidFill>
              </a:defRPr>
            </a:pPr>
            <a:r>
              <a:t>High-risk systems face comprehensive compliance requirements</a:t>
            </a:r>
          </a:p>
          <a:p>
            <a:pPr>
              <a:spcBef>
                <a:spcPts val="600"/>
              </a:spcBef>
              <a:spcAft>
                <a:spcPts val="600"/>
              </a:spcAft>
              <a:defRPr sz="1800">
                <a:solidFill>
                  <a:srgbClr val="404040"/>
                </a:solidFill>
              </a:defRPr>
            </a:pPr>
            <a:r>
              <a:t>Limited-risk systems require transparency disclosures only</a:t>
            </a:r>
          </a:p>
          <a:p>
            <a:pPr>
              <a:spcBef>
                <a:spcPts val="600"/>
              </a:spcBef>
              <a:spcAft>
                <a:spcPts val="600"/>
              </a:spcAft>
              <a:defRPr sz="1800">
                <a:solidFill>
                  <a:srgbClr val="404040"/>
                </a:solidFill>
              </a:defRPr>
            </a:pPr>
            <a:r>
              <a:t>Minimal-risk systems have no specific obligations</a:t>
            </a:r>
          </a:p>
          <a:p>
            <a:pPr>
              <a:spcBef>
                <a:spcPts val="600"/>
              </a:spcBef>
              <a:spcAft>
                <a:spcPts val="600"/>
              </a:spcAft>
              <a:defRPr sz="1800">
                <a:solidFill>
                  <a:srgbClr val="404040"/>
                </a:solidFill>
              </a:defRPr>
            </a:pPr>
            <a:r>
              <a:t>Classification determines all subsequent compliance work</a:t>
            </a:r>
          </a:p>
          <a:p>
            <a:pPr>
              <a:spcBef>
                <a:spcPts val="600"/>
              </a:spcBef>
              <a:spcAft>
                <a:spcPts val="600"/>
              </a:spcAft>
              <a:defRPr sz="1800">
                <a:solidFill>
                  <a:srgbClr val="404040"/>
                </a:solidFill>
              </a:defRPr>
            </a:pPr>
            <a:r>
              <a:t>Annex III lists specific high-risk use cases</a:t>
            </a:r>
          </a:p>
          <a:p>
            <a:pPr>
              <a:spcBef>
                <a:spcPts val="600"/>
              </a:spcBef>
              <a:spcAft>
                <a:spcPts val="600"/>
              </a:spcAft>
              <a:defRPr sz="1800">
                <a:solidFill>
                  <a:srgbClr val="404040"/>
                </a:solidFill>
              </a:defRPr>
            </a:pPr>
            <a:r>
              <a:t>Decision trees guide systematic classification methodology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L3: Classifying AI Systems: Decision Framework in Practice</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L3: Risk Classification in Practice: Complete Worked Example</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TalentTech evaluates AI Recruitment Assistant using four-tier framework</a:t>
            </a:r>
          </a:p>
          <a:p>
            <a:pPr>
              <a:spcBef>
                <a:spcPts val="600"/>
              </a:spcBef>
              <a:spcAft>
                <a:spcPts val="600"/>
              </a:spcAft>
              <a:defRPr sz="1800">
                <a:solidFill>
                  <a:srgbClr val="404040"/>
                </a:solidFill>
              </a:defRPr>
            </a:pPr>
            <a:r>
              <a:t>Article 5 prohibited practices: All four criteria documented as not applicable</a:t>
            </a:r>
          </a:p>
          <a:p>
            <a:pPr>
              <a:spcBef>
                <a:spcPts val="600"/>
              </a:spcBef>
              <a:spcAft>
                <a:spcPts val="600"/>
              </a:spcAft>
              <a:defRPr sz="1800">
                <a:solidFill>
                  <a:srgbClr val="404040"/>
                </a:solidFill>
              </a:defRPr>
            </a:pPr>
            <a:r>
              <a:t>Annex III employment category (Section 4a): Directly applicable to recruitment screening</a:t>
            </a:r>
          </a:p>
          <a:p>
            <a:pPr>
              <a:spcBef>
                <a:spcPts val="600"/>
              </a:spcBef>
              <a:spcAft>
                <a:spcPts val="600"/>
              </a:spcAft>
              <a:defRPr sz="1800">
                <a:solidFill>
                  <a:srgbClr val="404040"/>
                </a:solidFill>
              </a:defRPr>
            </a:pPr>
            <a:r>
              <a:t>HIGH-RISK classification established through employment use case</a:t>
            </a:r>
          </a:p>
          <a:p>
            <a:pPr>
              <a:spcBef>
                <a:spcPts val="600"/>
              </a:spcBef>
              <a:spcAft>
                <a:spcPts val="600"/>
              </a:spcAft>
              <a:defRPr sz="1800">
                <a:solidFill>
                  <a:srgbClr val="404040"/>
                </a:solidFill>
              </a:defRPr>
            </a:pPr>
            <a:r>
              <a:t>127,543 annual resumes processed across 50+ clients in 12 EU states</a:t>
            </a:r>
          </a:p>
          <a:p>
            <a:pPr>
              <a:spcBef>
                <a:spcPts val="600"/>
              </a:spcBef>
              <a:spcAft>
                <a:spcPts val="600"/>
              </a:spcAft>
              <a:defRPr sz="1800">
                <a:solidFill>
                  <a:srgbClr val="404040"/>
                </a:solidFill>
              </a:defRPr>
            </a:pPr>
            <a:r>
              <a:t>Comprehensive obligations: Articles 9/10/11/13/14/15/17/43/49/72</a:t>
            </a:r>
          </a:p>
          <a:p>
            <a:pPr>
              <a:spcBef>
                <a:spcPts val="600"/>
              </a:spcBef>
              <a:spcAft>
                <a:spcPts val="600"/>
              </a:spcAft>
              <a:defRPr sz="1800">
                <a:solidFill>
                  <a:srgbClr val="404040"/>
                </a:solidFill>
              </a:defRPr>
            </a:pPr>
            <a:r>
              <a:t>Compliance roadmap includes risk management, technical docs, conformity assessment</a:t>
            </a:r>
          </a:p>
          <a:p>
            <a:pPr>
              <a:spcBef>
                <a:spcPts val="600"/>
              </a:spcBef>
              <a:spcAft>
                <a:spcPts val="600"/>
              </a:spcAft>
              <a:defRPr sz="1800">
                <a:solidFill>
                  <a:srgbClr val="404040"/>
                </a:solidFill>
              </a:defRPr>
            </a:pPr>
            <a:r>
              <a:t>Documented determination with specific article citations for audit readiness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4: Gap Assessment</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25-30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L4: From Classification to Compliance: The Gap Assessment Process</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Systematic evaluation of current state versus requirements</a:t>
            </a:r>
          </a:p>
          <a:p>
            <a:pPr>
              <a:spcBef>
                <a:spcPts val="600"/>
              </a:spcBef>
              <a:spcAft>
                <a:spcPts val="600"/>
              </a:spcAft>
              <a:defRPr sz="1800">
                <a:solidFill>
                  <a:srgbClr val="404040"/>
                </a:solidFill>
              </a:defRPr>
            </a:pPr>
            <a:r>
              <a:t>Eight compliance categories covering all high-risk obligations</a:t>
            </a:r>
          </a:p>
          <a:p>
            <a:pPr>
              <a:spcBef>
                <a:spcPts val="600"/>
              </a:spcBef>
              <a:spcAft>
                <a:spcPts val="600"/>
              </a:spcAft>
              <a:defRPr sz="1800">
                <a:solidFill>
                  <a:srgbClr val="404040"/>
                </a:solidFill>
              </a:defRPr>
            </a:pPr>
            <a:r>
              <a:t>Identifies missing documentation and inadequate processes</a:t>
            </a:r>
          </a:p>
          <a:p>
            <a:pPr>
              <a:spcBef>
                <a:spcPts val="600"/>
              </a:spcBef>
              <a:spcAft>
                <a:spcPts val="600"/>
              </a:spcAft>
              <a:defRPr sz="1800">
                <a:solidFill>
                  <a:srgbClr val="404040"/>
                </a:solidFill>
              </a:defRPr>
            </a:pPr>
            <a:r>
              <a:t>Creates actionable roadmap prioritizing compliance gaps</a:t>
            </a:r>
          </a:p>
          <a:p>
            <a:pPr>
              <a:spcBef>
                <a:spcPts val="600"/>
              </a:spcBef>
              <a:spcAft>
                <a:spcPts val="600"/>
              </a:spcAft>
              <a:defRPr sz="1800">
                <a:solidFill>
                  <a:srgbClr val="404040"/>
                </a:solidFill>
              </a:defRPr>
            </a:pPr>
            <a:r>
              <a:t>Assigns responsibility and tracks implementation status</a:t>
            </a:r>
          </a:p>
          <a:p>
            <a:pPr>
              <a:spcBef>
                <a:spcPts val="600"/>
              </a:spcBef>
              <a:spcAft>
                <a:spcPts val="600"/>
              </a:spcAft>
              <a:defRPr sz="1800">
                <a:solidFill>
                  <a:srgbClr val="404040"/>
                </a:solidFill>
              </a:defRPr>
            </a:pPr>
            <a:r>
              <a:t>Transforms regulatory requirements into project plan</a:t>
            </a:r>
          </a:p>
          <a:p>
            <a:pPr>
              <a:spcBef>
                <a:spcPts val="600"/>
              </a:spcBef>
              <a:spcAft>
                <a:spcPts val="600"/>
              </a:spcAft>
              <a:defRPr sz="1800">
                <a:solidFill>
                  <a:srgbClr val="404040"/>
                </a:solidFill>
              </a:defRPr>
            </a:pPr>
            <a:r>
              <a:t>Documents existing evidence for audit defense</a:t>
            </a:r>
          </a:p>
          <a:p>
            <a:pPr>
              <a:spcBef>
                <a:spcPts val="600"/>
              </a:spcBef>
              <a:spcAft>
                <a:spcPts val="600"/>
              </a:spcAft>
              <a:defRPr sz="1800">
                <a:solidFill>
                  <a:srgbClr val="404040"/>
                </a:solidFill>
              </a:defRPr>
            </a:pPr>
            <a:r>
              <a:t>Enables progress tracking and resource allocation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L4: Gap Assessment in Practice: Understanding Your Compliance Position</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L4: Gap Assessment in Practice: Complete Compliance Evaluation</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Systematic evaluation across eight compliance categories with specific requirements</a:t>
            </a:r>
          </a:p>
          <a:p>
            <a:pPr>
              <a:spcBef>
                <a:spcPts val="600"/>
              </a:spcBef>
              <a:spcAft>
                <a:spcPts val="600"/>
              </a:spcAft>
              <a:defRPr sz="1800">
                <a:solidFill>
                  <a:srgbClr val="404040"/>
                </a:solidFill>
              </a:defRPr>
            </a:pPr>
            <a:r>
              <a:t>Honest assessment of current implementation status with evidence inventory</a:t>
            </a:r>
          </a:p>
          <a:p>
            <a:pPr>
              <a:spcBef>
                <a:spcPts val="600"/>
              </a:spcBef>
              <a:spcAft>
                <a:spcPts val="600"/>
              </a:spcAft>
              <a:defRPr sz="1800">
                <a:solidFill>
                  <a:srgbClr val="404040"/>
                </a:solidFill>
              </a:defRPr>
            </a:pPr>
            <a:r>
              <a:t>Documented gaps identifying practice deficiencies versus documentation deficiencies</a:t>
            </a:r>
          </a:p>
          <a:p>
            <a:pPr>
              <a:spcBef>
                <a:spcPts val="600"/>
              </a:spcBef>
              <a:spcAft>
                <a:spcPts val="600"/>
              </a:spcAft>
              <a:defRPr sz="1800">
                <a:solidFill>
                  <a:srgbClr val="404040"/>
                </a:solidFill>
              </a:defRPr>
            </a:pPr>
            <a:r>
              <a:t>Clear responsibility assignment with role and name for each requirement</a:t>
            </a:r>
          </a:p>
          <a:p>
            <a:pPr>
              <a:spcBef>
                <a:spcPts val="600"/>
              </a:spcBef>
              <a:spcAft>
                <a:spcPts val="600"/>
              </a:spcAft>
              <a:defRPr sz="1800">
                <a:solidFill>
                  <a:srgbClr val="404040"/>
                </a:solidFill>
              </a:defRPr>
            </a:pPr>
            <a:r>
              <a:t>Priority levels based on regulatory importance and implementation dependencies</a:t>
            </a:r>
          </a:p>
          <a:p>
            <a:pPr>
              <a:spcBef>
                <a:spcPts val="600"/>
              </a:spcBef>
              <a:spcAft>
                <a:spcPts val="600"/>
              </a:spcAft>
              <a:defRPr sz="1800">
                <a:solidFill>
                  <a:srgbClr val="404040"/>
                </a:solidFill>
              </a:defRPr>
            </a:pPr>
            <a:r>
              <a:t>Specific action items with estimated effort and target completion dates</a:t>
            </a:r>
          </a:p>
          <a:p>
            <a:pPr>
              <a:spcBef>
                <a:spcPts val="600"/>
              </a:spcBef>
              <a:spcAft>
                <a:spcPts val="600"/>
              </a:spcAft>
              <a:defRPr sz="1800">
                <a:solidFill>
                  <a:srgbClr val="404040"/>
                </a:solidFill>
              </a:defRPr>
            </a:pPr>
            <a:r>
              <a:t>Overall compliance score tracking implementation progress quantitatively</a:t>
            </a:r>
          </a:p>
          <a:p>
            <a:pPr>
              <a:spcBef>
                <a:spcPts val="600"/>
              </a:spcBef>
              <a:spcAft>
                <a:spcPts val="600"/>
              </a:spcAft>
              <a:defRPr sz="1800">
                <a:solidFill>
                  <a:srgbClr val="404040"/>
                </a:solidFill>
              </a:defRPr>
            </a:pPr>
            <a:r>
              <a:t>Comprehensive assessment document serving as auditable compliance roadmap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5: AI Governance Framework</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25-30 minutes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L5: Building Your AI Governance Foundation: Structure, Policies, and Accountability</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Organizational structure for systematic AI Act compliance</a:t>
            </a:r>
          </a:p>
          <a:p>
            <a:pPr>
              <a:spcBef>
                <a:spcPts val="600"/>
              </a:spcBef>
              <a:spcAft>
                <a:spcPts val="600"/>
              </a:spcAft>
              <a:defRPr sz="1800">
                <a:solidFill>
                  <a:srgbClr val="404040"/>
                </a:solidFill>
              </a:defRPr>
            </a:pPr>
            <a:r>
              <a:t>Defines roles, responsibilities, and accountability mechanisms</a:t>
            </a:r>
          </a:p>
          <a:p>
            <a:pPr>
              <a:spcBef>
                <a:spcPts val="600"/>
              </a:spcBef>
              <a:spcAft>
                <a:spcPts val="600"/>
              </a:spcAft>
              <a:defRPr sz="1800">
                <a:solidFill>
                  <a:srgbClr val="404040"/>
                </a:solidFill>
              </a:defRPr>
            </a:pPr>
            <a:r>
              <a:t>Establishes formal policies for AI lifecycle management</a:t>
            </a:r>
          </a:p>
          <a:p>
            <a:pPr>
              <a:spcBef>
                <a:spcPts val="600"/>
              </a:spcBef>
              <a:spcAft>
                <a:spcPts val="600"/>
              </a:spcAft>
              <a:defRPr sz="1800">
                <a:solidFill>
                  <a:srgbClr val="404040"/>
                </a:solidFill>
              </a:defRPr>
            </a:pPr>
            <a:r>
              <a:t>Creates decision-making frameworks and approval workflows</a:t>
            </a:r>
          </a:p>
          <a:p>
            <a:pPr>
              <a:spcBef>
                <a:spcPts val="600"/>
              </a:spcBef>
              <a:spcAft>
                <a:spcPts val="600"/>
              </a:spcAft>
              <a:defRPr sz="1800">
                <a:solidFill>
                  <a:srgbClr val="404040"/>
                </a:solidFill>
              </a:defRPr>
            </a:pPr>
            <a:r>
              <a:t>Ensures compliance is embedded, not ad-hoc</a:t>
            </a:r>
          </a:p>
          <a:p>
            <a:pPr>
              <a:spcBef>
                <a:spcPts val="600"/>
              </a:spcBef>
              <a:spcAft>
                <a:spcPts val="600"/>
              </a:spcAft>
              <a:defRPr sz="1800">
                <a:solidFill>
                  <a:srgbClr val="404040"/>
                </a:solidFill>
              </a:defRPr>
            </a:pPr>
            <a:r>
              <a:t>Provides audit trail proving systematic governance</a:t>
            </a:r>
          </a:p>
          <a:p>
            <a:pPr>
              <a:spcBef>
                <a:spcPts val="600"/>
              </a:spcBef>
              <a:spcAft>
                <a:spcPts val="600"/>
              </a:spcAft>
              <a:defRPr sz="1800">
                <a:solidFill>
                  <a:srgbClr val="404040"/>
                </a:solidFill>
              </a:defRPr>
            </a:pPr>
            <a:r>
              <a:t>Includes committee structure with executive sponsorship</a:t>
            </a:r>
          </a:p>
          <a:p>
            <a:pPr>
              <a:spcBef>
                <a:spcPts val="600"/>
              </a:spcBef>
              <a:spcAft>
                <a:spcPts val="600"/>
              </a:spcAft>
              <a:defRPr sz="1800">
                <a:solidFill>
                  <a:srgbClr val="404040"/>
                </a:solidFill>
              </a:defRPr>
            </a:pPr>
            <a:r>
              <a:t>Integrates risk management, data governance, and oversight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L5: AI Governance in Practice: Roles, Policies, and Organizational Design</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L5: Governance Framework in Practice: Building Organizational Accountability</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Governance committee with C-level chair and cross-functional membership documented with specific names and contact information</a:t>
            </a:r>
          </a:p>
          <a:p>
            <a:pPr>
              <a:spcBef>
                <a:spcPts val="600"/>
              </a:spcBef>
              <a:spcAft>
                <a:spcPts val="600"/>
              </a:spcAft>
              <a:defRPr sz="1800">
                <a:solidFill>
                  <a:srgbClr val="404040"/>
                </a:solidFill>
              </a:defRPr>
            </a:pPr>
            <a:r>
              <a:t>Committee charter defining purpose, scope, authority, reporting lines, and board oversight with formal approval dates</a:t>
            </a:r>
          </a:p>
          <a:p>
            <a:pPr>
              <a:spcBef>
                <a:spcPts val="600"/>
              </a:spcBef>
              <a:spcAft>
                <a:spcPts val="600"/>
              </a:spcAft>
              <a:defRPr sz="1800">
                <a:solidFill>
                  <a:srgbClr val="404040"/>
                </a:solidFill>
              </a:defRPr>
            </a:pPr>
            <a:r>
              <a:t>Meeting frequency and decision-making authority including deployment approval, policy review, incident response, and resource allocation</a:t>
            </a:r>
          </a:p>
          <a:p>
            <a:pPr>
              <a:spcBef>
                <a:spcPts val="600"/>
              </a:spcBef>
              <a:spcAft>
                <a:spcPts val="600"/>
              </a:spcAft>
              <a:defRPr sz="1800">
                <a:solidFill>
                  <a:srgbClr val="404040"/>
                </a:solidFill>
              </a:defRPr>
            </a:pPr>
            <a:r>
              <a:t>Specific role assignments with full name, contact, detailed responsibilities, authority levels, and accountability mechanisms</a:t>
            </a:r>
          </a:p>
          <a:p>
            <a:pPr>
              <a:spcBef>
                <a:spcPts val="600"/>
              </a:spcBef>
              <a:spcAft>
                <a:spcPts val="600"/>
              </a:spcAft>
              <a:defRPr sz="1800">
                <a:solidFill>
                  <a:srgbClr val="404040"/>
                </a:solidFill>
              </a:defRPr>
            </a:pPr>
            <a:r>
              <a:t>AI Compliance Manager as dedicated full-time role with authority to block non-compliant deployments</a:t>
            </a:r>
          </a:p>
          <a:p>
            <a:pPr>
              <a:spcBef>
                <a:spcPts val="600"/>
              </a:spcBef>
              <a:spcAft>
                <a:spcPts val="600"/>
              </a:spcAft>
              <a:defRPr sz="1800">
                <a:solidFill>
                  <a:srgbClr val="404040"/>
                </a:solidFill>
              </a:defRPr>
            </a:pPr>
            <a:r>
              <a:t>Six core governance policies with version control, effective dates, policy owners, approval authority, and review schedules</a:t>
            </a:r>
          </a:p>
          <a:p>
            <a:pPr>
              <a:spcBef>
                <a:spcPts val="600"/>
              </a:spcBef>
              <a:spcAft>
                <a:spcPts val="600"/>
              </a:spcAft>
              <a:defRPr sz="1800">
                <a:solidFill>
                  <a:srgbClr val="404040"/>
                </a:solidFill>
              </a:defRPr>
            </a:pPr>
            <a:r>
              <a:t>Policy enforcement mechanisms integrated into technical processes like DevOps deployment gates</a:t>
            </a:r>
          </a:p>
          <a:p>
            <a:pPr>
              <a:spcBef>
                <a:spcPts val="600"/>
              </a:spcBef>
              <a:spcAft>
                <a:spcPts val="600"/>
              </a:spcAft>
              <a:defRPr sz="1800">
                <a:solidFill>
                  <a:srgbClr val="404040"/>
                </a:solidFill>
              </a:defRPr>
            </a:pPr>
            <a:r>
              <a:t>Comprehensive governance documentation package proving embedded organizational capability for systematic compliance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6: Risk Management System</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25-30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L6: Article 9 Risk Management: Systematic Identification, Assessment, and Mitigation</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Continuous systematic process throughout AI lifecycle</a:t>
            </a:r>
          </a:p>
          <a:p>
            <a:pPr>
              <a:spcBef>
                <a:spcPts val="600"/>
              </a:spcBef>
              <a:spcAft>
                <a:spcPts val="600"/>
              </a:spcAft>
              <a:defRPr sz="1800">
                <a:solidFill>
                  <a:srgbClr val="404040"/>
                </a:solidFill>
              </a:defRPr>
            </a:pPr>
            <a:r>
              <a:t>Identifies risks to health, safety, fundamental rights</a:t>
            </a:r>
          </a:p>
          <a:p>
            <a:pPr>
              <a:spcBef>
                <a:spcPts val="600"/>
              </a:spcBef>
              <a:spcAft>
                <a:spcPts val="600"/>
              </a:spcAft>
              <a:defRPr sz="1800">
                <a:solidFill>
                  <a:srgbClr val="404040"/>
                </a:solidFill>
              </a:defRPr>
            </a:pPr>
            <a:r>
              <a:t>Assesses severity and probability using documented methodology</a:t>
            </a:r>
          </a:p>
          <a:p>
            <a:pPr>
              <a:spcBef>
                <a:spcPts val="600"/>
              </a:spcBef>
              <a:spcAft>
                <a:spcPts val="600"/>
              </a:spcAft>
              <a:defRPr sz="1800">
                <a:solidFill>
                  <a:srgbClr val="404040"/>
                </a:solidFill>
              </a:defRPr>
            </a:pPr>
            <a:r>
              <a:t>Implements mitigation measures with testing evidence</a:t>
            </a:r>
          </a:p>
          <a:p>
            <a:pPr>
              <a:spcBef>
                <a:spcPts val="600"/>
              </a:spcBef>
              <a:spcAft>
                <a:spcPts val="600"/>
              </a:spcAft>
              <a:defRPr sz="1800">
                <a:solidFill>
                  <a:srgbClr val="404040"/>
                </a:solidFill>
              </a:defRPr>
            </a:pPr>
            <a:r>
              <a:t>Documents all risk activities in risk register</a:t>
            </a:r>
          </a:p>
          <a:p>
            <a:pPr>
              <a:spcBef>
                <a:spcPts val="600"/>
              </a:spcBef>
              <a:spcAft>
                <a:spcPts val="600"/>
              </a:spcAft>
              <a:defRPr sz="1800">
                <a:solidFill>
                  <a:srgbClr val="404040"/>
                </a:solidFill>
              </a:defRPr>
            </a:pPr>
            <a:r>
              <a:t>Monitors production systems for emerging risks</a:t>
            </a:r>
          </a:p>
          <a:p>
            <a:pPr>
              <a:spcBef>
                <a:spcPts val="600"/>
              </a:spcBef>
              <a:spcAft>
                <a:spcPts val="600"/>
              </a:spcAft>
              <a:defRPr sz="1800">
                <a:solidFill>
                  <a:srgbClr val="404040"/>
                </a:solidFill>
              </a:defRPr>
            </a:pPr>
            <a:r>
              <a:t>Requires governance oversight and escalation procedures</a:t>
            </a:r>
          </a:p>
          <a:p>
            <a:pPr>
              <a:spcBef>
                <a:spcPts val="600"/>
              </a:spcBef>
              <a:spcAft>
                <a:spcPts val="600"/>
              </a:spcAft>
              <a:defRPr sz="1800">
                <a:solidFill>
                  <a:srgbClr val="404040"/>
                </a:solidFill>
              </a:defRPr>
            </a:pPr>
            <a:r>
              <a:t>Provides auditable trail of risk management activities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L6: Risk Management in Practice: From Identification to Mitigation</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L6: Risk Management in Practice: Building Article 9 Compliant Risk Register</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Risk identification using ISO 31000 framework with hazard-event-consequence structure</a:t>
            </a:r>
          </a:p>
          <a:p>
            <a:pPr>
              <a:spcBef>
                <a:spcPts val="600"/>
              </a:spcBef>
              <a:spcAft>
                <a:spcPts val="600"/>
              </a:spcAft>
              <a:defRPr sz="1800">
                <a:solidFill>
                  <a:srgbClr val="404040"/>
                </a:solidFill>
              </a:defRPr>
            </a:pPr>
            <a:r>
              <a:t>Risk statement documenting protected characteristics, discriminatory outcomes, legal liability, and financial impact</a:t>
            </a:r>
          </a:p>
          <a:p>
            <a:pPr>
              <a:spcBef>
                <a:spcPts val="600"/>
              </a:spcBef>
              <a:spcAft>
                <a:spcPts val="600"/>
              </a:spcAft>
              <a:defRPr sz="1800">
                <a:solidFill>
                  <a:srgbClr val="404040"/>
                </a:solidFill>
              </a:defRPr>
            </a:pPr>
            <a:r>
              <a:t>Severity assessment at MAJOR level with detailed justification including individual harm and financial estimates</a:t>
            </a:r>
          </a:p>
          <a:p>
            <a:pPr>
              <a:spcBef>
                <a:spcPts val="600"/>
              </a:spcBef>
              <a:spcAft>
                <a:spcPts val="600"/>
              </a:spcAft>
              <a:defRPr sz="1800">
                <a:solidFill>
                  <a:srgbClr val="404040"/>
                </a:solidFill>
              </a:defRPr>
            </a:pPr>
            <a:r>
              <a:t>Likelihood assessment at POSSIBLE level based on processing volume and historical evidence</a:t>
            </a:r>
          </a:p>
          <a:p>
            <a:pPr>
              <a:spcBef>
                <a:spcPts val="600"/>
              </a:spcBef>
              <a:spcAft>
                <a:spcPts val="600"/>
              </a:spcAft>
              <a:defRPr sz="1800">
                <a:solidFill>
                  <a:srgbClr val="404040"/>
                </a:solidFill>
              </a:defRPr>
            </a:pPr>
            <a:r>
              <a:t>HIGH RISK classification from severity-likelihood matrix requiring immediate mitigation</a:t>
            </a:r>
          </a:p>
          <a:p>
            <a:pPr>
              <a:spcBef>
                <a:spcPts val="600"/>
              </a:spcBef>
              <a:spcAft>
                <a:spcPts val="600"/>
              </a:spcAft>
              <a:defRPr sz="1800">
                <a:solidFill>
                  <a:srgbClr val="404040"/>
                </a:solidFill>
              </a:defRPr>
            </a:pPr>
            <a:r>
              <a:t>Comprehensive mitigation across data controls, algorithmic fairness, monitoring, human oversight, and governance</a:t>
            </a:r>
          </a:p>
          <a:p>
            <a:pPr>
              <a:spcBef>
                <a:spcPts val="600"/>
              </a:spcBef>
              <a:spcAft>
                <a:spcPts val="600"/>
              </a:spcAft>
              <a:defRPr sz="1800">
                <a:solidFill>
                  <a:srgbClr val="404040"/>
                </a:solidFill>
              </a:defRPr>
            </a:pPr>
            <a:r>
              <a:t>Specific control implementations including dataset rebalancing, fairness metrics, automated alerts, and external audits</a:t>
            </a:r>
          </a:p>
          <a:p>
            <a:pPr>
              <a:spcBef>
                <a:spcPts val="600"/>
              </a:spcBef>
              <a:spcAft>
                <a:spcPts val="600"/>
              </a:spcAft>
              <a:defRPr sz="1800">
                <a:solidFill>
                  <a:srgbClr val="404040"/>
                </a:solidFill>
              </a:defRPr>
            </a:pPr>
            <a:r>
              <a:t>Residual risk evaluation at MEDIUM level with honest acknowledgment of remaining uncertainties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7: Technical Documentation</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25-30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L7: Article 11 Technical Documentation: Comprehensive System Evidence</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Comprehensive evidence package for conformity assessment</a:t>
            </a:r>
          </a:p>
          <a:p>
            <a:pPr>
              <a:spcBef>
                <a:spcPts val="600"/>
              </a:spcBef>
              <a:spcAft>
                <a:spcPts val="600"/>
              </a:spcAft>
              <a:defRPr sz="1800">
                <a:solidFill>
                  <a:srgbClr val="404040"/>
                </a:solidFill>
              </a:defRPr>
            </a:pPr>
            <a:r>
              <a:t>Required before placing high-risk systems on market</a:t>
            </a:r>
          </a:p>
          <a:p>
            <a:pPr>
              <a:spcBef>
                <a:spcPts val="600"/>
              </a:spcBef>
              <a:spcAft>
                <a:spcPts val="600"/>
              </a:spcAft>
              <a:defRPr sz="1800">
                <a:solidFill>
                  <a:srgbClr val="404040"/>
                </a:solidFill>
              </a:defRPr>
            </a:pPr>
            <a:r>
              <a:t>Must enable regulatory authorities to assess compliance</a:t>
            </a:r>
          </a:p>
          <a:p>
            <a:pPr>
              <a:spcBef>
                <a:spcPts val="600"/>
              </a:spcBef>
              <a:spcAft>
                <a:spcPts val="600"/>
              </a:spcAft>
              <a:defRPr sz="1800">
                <a:solidFill>
                  <a:srgbClr val="404040"/>
                </a:solidFill>
              </a:defRPr>
            </a:pPr>
            <a:r>
              <a:t>Covers system description, architecture, data, models, testing</a:t>
            </a:r>
          </a:p>
          <a:p>
            <a:pPr>
              <a:spcBef>
                <a:spcPts val="600"/>
              </a:spcBef>
              <a:spcAft>
                <a:spcPts val="600"/>
              </a:spcAft>
              <a:defRPr sz="1800">
                <a:solidFill>
                  <a:srgbClr val="404040"/>
                </a:solidFill>
              </a:defRPr>
            </a:pPr>
            <a:r>
              <a:t>Includes risk management and quality documentation</a:t>
            </a:r>
          </a:p>
          <a:p>
            <a:pPr>
              <a:spcBef>
                <a:spcPts val="600"/>
              </a:spcBef>
              <a:spcAft>
                <a:spcPts val="600"/>
              </a:spcAft>
              <a:defRPr sz="1800">
                <a:solidFill>
                  <a:srgbClr val="404040"/>
                </a:solidFill>
              </a:defRPr>
            </a:pPr>
            <a:r>
              <a:t>Created during development, not retrospectively reconstructed</a:t>
            </a:r>
          </a:p>
          <a:p>
            <a:pPr>
              <a:spcBef>
                <a:spcPts val="600"/>
              </a:spcBef>
              <a:spcAft>
                <a:spcPts val="600"/>
              </a:spcAft>
              <a:defRPr sz="1800">
                <a:solidFill>
                  <a:srgbClr val="404040"/>
                </a:solidFill>
              </a:defRPr>
            </a:pPr>
            <a:r>
              <a:t>Maintained and updated throughout system lifecycle</a:t>
            </a:r>
          </a:p>
          <a:p>
            <a:pPr>
              <a:spcBef>
                <a:spcPts val="600"/>
              </a:spcBef>
              <a:spcAft>
                <a:spcPts val="600"/>
              </a:spcAft>
              <a:defRPr sz="1800">
                <a:solidFill>
                  <a:srgbClr val="404040"/>
                </a:solidFill>
              </a:defRPr>
            </a:pPr>
            <a:r>
              <a:t>Available to authorities upon request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L7: Technical Documentation in Practice: Building Comprehensive Evidence</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L7: Technical Documentation in Practice: Article 11 Compliance Package</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Complete system description with intended purpose and technology stack</a:t>
            </a:r>
          </a:p>
          <a:p>
            <a:pPr>
              <a:spcBef>
                <a:spcPts val="600"/>
              </a:spcBef>
              <a:spcAft>
                <a:spcPts val="600"/>
              </a:spcAft>
              <a:defRPr sz="1800">
                <a:solidFill>
                  <a:srgbClr val="404040"/>
                </a:solidFill>
              </a:defRPr>
            </a:pPr>
            <a:r>
              <a:t>Provider information with EU authorized representative contact details</a:t>
            </a:r>
          </a:p>
          <a:p>
            <a:pPr>
              <a:spcBef>
                <a:spcPts val="600"/>
              </a:spcBef>
              <a:spcAft>
                <a:spcPts val="600"/>
              </a:spcAft>
              <a:defRPr sz="1800">
                <a:solidFill>
                  <a:srgbClr val="404040"/>
                </a:solidFill>
              </a:defRPr>
            </a:pPr>
            <a:r>
              <a:t>Comprehensive architecture with five documented components and interactions</a:t>
            </a:r>
          </a:p>
          <a:p>
            <a:pPr>
              <a:spcBef>
                <a:spcPts val="600"/>
              </a:spcBef>
              <a:spcAft>
                <a:spcPts val="600"/>
              </a:spcAft>
              <a:defRPr sz="1800">
                <a:solidFill>
                  <a:srgbClr val="404040"/>
                </a:solidFill>
              </a:defRPr>
            </a:pPr>
            <a:r>
              <a:t>Training data specifications with 127,543 resumes and demographic distributions</a:t>
            </a:r>
          </a:p>
          <a:p>
            <a:pPr>
              <a:spcBef>
                <a:spcPts val="600"/>
              </a:spcBef>
              <a:spcAft>
                <a:spcPts val="600"/>
              </a:spcAft>
              <a:defRPr sz="1800">
                <a:solidFill>
                  <a:srgbClr val="404040"/>
                </a:solidFill>
              </a:defRPr>
            </a:pPr>
            <a:r>
              <a:t>Model documentation with XGBoost hyperparameters and fairness constraints</a:t>
            </a:r>
          </a:p>
          <a:p>
            <a:pPr>
              <a:spcBef>
                <a:spcPts val="600"/>
              </a:spcBef>
              <a:spcAft>
                <a:spcPts val="600"/>
              </a:spcAft>
              <a:defRPr sz="1800">
                <a:solidFill>
                  <a:srgbClr val="404040"/>
                </a:solidFill>
              </a:defRPr>
            </a:pPr>
            <a:r>
              <a:t>Performance metrics with 84.3% accuracy and stratified fairness analysis</a:t>
            </a:r>
          </a:p>
          <a:p>
            <a:pPr>
              <a:spcBef>
                <a:spcPts val="600"/>
              </a:spcBef>
              <a:spcAft>
                <a:spcPts val="600"/>
              </a:spcAft>
              <a:defRPr sz="1800">
                <a:solidFill>
                  <a:srgbClr val="404040"/>
                </a:solidFill>
              </a:defRPr>
            </a:pPr>
            <a:r>
              <a:t>Testing evidence with methodology, statistical results, and independent validation</a:t>
            </a:r>
          </a:p>
          <a:p>
            <a:pPr>
              <a:spcBef>
                <a:spcPts val="600"/>
              </a:spcBef>
              <a:spcAft>
                <a:spcPts val="600"/>
              </a:spcAft>
              <a:defRPr sz="1800">
                <a:solidFill>
                  <a:srgbClr val="404040"/>
                </a:solidFill>
              </a:defRPr>
            </a:pPr>
            <a:r>
              <a:t>Professional documentation package suitable for conformity assessment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8: Incident Management and Post-Market Monitoring</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25-30 minutes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L8: Post-Market Monitoring: Incident Detection, Investigation, and Regulatory Reporting</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Continuous monitoring of deployed AI systems required</a:t>
            </a:r>
          </a:p>
          <a:p>
            <a:pPr>
              <a:spcBef>
                <a:spcPts val="600"/>
              </a:spcBef>
              <a:spcAft>
                <a:spcPts val="600"/>
              </a:spcAft>
              <a:defRPr sz="1800">
                <a:solidFill>
                  <a:srgbClr val="404040"/>
                </a:solidFill>
              </a:defRPr>
            </a:pPr>
            <a:r>
              <a:t>Detect incidents through automated monitoring and user feedback</a:t>
            </a:r>
          </a:p>
          <a:p>
            <a:pPr>
              <a:spcBef>
                <a:spcPts val="600"/>
              </a:spcBef>
              <a:spcAft>
                <a:spcPts val="600"/>
              </a:spcAft>
              <a:defRPr sz="1800">
                <a:solidFill>
                  <a:srgbClr val="404040"/>
                </a:solidFill>
              </a:defRPr>
            </a:pPr>
            <a:r>
              <a:t>Classify incidents by severity and regulatory reporting obligations</a:t>
            </a:r>
          </a:p>
          <a:p>
            <a:pPr>
              <a:spcBef>
                <a:spcPts val="600"/>
              </a:spcBef>
              <a:spcAft>
                <a:spcPts val="600"/>
              </a:spcAft>
              <a:defRPr sz="1800">
                <a:solidFill>
                  <a:srgbClr val="404040"/>
                </a:solidFill>
              </a:defRPr>
            </a:pPr>
            <a:r>
              <a:t>Serious incidents reported to authorities within fifteen days</a:t>
            </a:r>
          </a:p>
          <a:p>
            <a:pPr>
              <a:spcBef>
                <a:spcPts val="600"/>
              </a:spcBef>
              <a:spcAft>
                <a:spcPts val="600"/>
              </a:spcAft>
              <a:defRPr sz="1800">
                <a:solidFill>
                  <a:srgbClr val="404040"/>
                </a:solidFill>
              </a:defRPr>
            </a:pPr>
            <a:r>
              <a:t>Systematic investigation determines root causes</a:t>
            </a:r>
          </a:p>
          <a:p>
            <a:pPr>
              <a:spcBef>
                <a:spcPts val="600"/>
              </a:spcBef>
              <a:spcAft>
                <a:spcPts val="600"/>
              </a:spcAft>
              <a:defRPr sz="1800">
                <a:solidFill>
                  <a:srgbClr val="404040"/>
                </a:solidFill>
              </a:defRPr>
            </a:pPr>
            <a:r>
              <a:t>Corrective actions remediate issues and prevent recurrence</a:t>
            </a:r>
          </a:p>
          <a:p>
            <a:pPr>
              <a:spcBef>
                <a:spcPts val="600"/>
              </a:spcBef>
              <a:spcAft>
                <a:spcPts val="600"/>
              </a:spcAft>
              <a:defRPr sz="1800">
                <a:solidFill>
                  <a:srgbClr val="404040"/>
                </a:solidFill>
              </a:defRPr>
            </a:pPr>
            <a:r>
              <a:t>Documentation proves detection, investigation, remediation, and reporting</a:t>
            </a:r>
          </a:p>
          <a:p>
            <a:pPr>
              <a:spcBef>
                <a:spcPts val="600"/>
              </a:spcBef>
              <a:spcAft>
                <a:spcPts val="600"/>
              </a:spcAft>
              <a:defRPr sz="1800">
                <a:solidFill>
                  <a:srgbClr val="404040"/>
                </a:solidFill>
              </a:defRPr>
            </a:pPr>
            <a:r>
              <a:t>Demonstrates continuous improvement and responsible AI operation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L8: Incident Management in Practice: Detection Through Resolution</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L8: Incident Management in Practice: Detection Through Regulatory Reporting</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Detection via automated fairness monitoring on March 15 showing 11.2% gender disparity</a:t>
            </a:r>
          </a:p>
          <a:p>
            <a:pPr>
              <a:spcBef>
                <a:spcPts val="600"/>
              </a:spcBef>
              <a:spcAft>
                <a:spcPts val="600"/>
              </a:spcAft>
              <a:defRPr sz="1800">
                <a:solidFill>
                  <a:srgbClr val="404040"/>
                </a:solidFill>
              </a:defRPr>
            </a:pPr>
            <a:r>
              <a:t>Incident INC-2024-001 affecting 450 candidates with systematic bias in rankings</a:t>
            </a:r>
          </a:p>
          <a:p>
            <a:pPr>
              <a:spcBef>
                <a:spcPts val="600"/>
              </a:spcBef>
              <a:spcAft>
                <a:spcPts val="600"/>
              </a:spcAft>
              <a:defRPr sz="1800">
                <a:solidFill>
                  <a:srgbClr val="404040"/>
                </a:solidFill>
              </a:defRPr>
            </a:pPr>
            <a:r>
              <a:t>Classified as serious incident due to fundamental rights violations (Article 62)</a:t>
            </a:r>
          </a:p>
          <a:p>
            <a:pPr>
              <a:spcBef>
                <a:spcPts val="600"/>
              </a:spcBef>
              <a:spcAft>
                <a:spcPts val="600"/>
              </a:spcAft>
              <a:defRPr sz="1800">
                <a:solidFill>
                  <a:srgbClr val="404040"/>
                </a:solidFill>
              </a:defRPr>
            </a:pPr>
            <a:r>
              <a:t>Root cause: Biased training data from client with inadequate preprocessing</a:t>
            </a:r>
          </a:p>
          <a:p>
            <a:pPr>
              <a:spcBef>
                <a:spcPts val="600"/>
              </a:spcBef>
              <a:spcAft>
                <a:spcPts val="600"/>
              </a:spcAft>
              <a:defRPr sz="1800">
                <a:solidFill>
                  <a:srgbClr val="404040"/>
                </a:solidFill>
              </a:defRPr>
            </a:pPr>
            <a:r>
              <a:t>Immediate rollback to previous model version within 24 hours</a:t>
            </a:r>
          </a:p>
          <a:p>
            <a:pPr>
              <a:spcBef>
                <a:spcPts val="600"/>
              </a:spcBef>
              <a:spcAft>
                <a:spcPts val="600"/>
              </a:spcAft>
              <a:defRPr sz="1800">
                <a:solidFill>
                  <a:srgbClr val="404040"/>
                </a:solidFill>
              </a:defRPr>
            </a:pPr>
            <a:r>
              <a:t>Medium-term: Complete model retraining with strengthened fairness constraints</a:t>
            </a:r>
          </a:p>
          <a:p>
            <a:pPr>
              <a:spcBef>
                <a:spcPts val="600"/>
              </a:spcBef>
              <a:spcAft>
                <a:spcPts val="600"/>
              </a:spcAft>
              <a:defRPr sz="1800">
                <a:solidFill>
                  <a:srgbClr val="404040"/>
                </a:solidFill>
              </a:defRPr>
            </a:pPr>
            <a:r>
              <a:t>Long-term: Enhanced monitoring, mandatory fairness review gates, quarterly audits</a:t>
            </a:r>
          </a:p>
          <a:p>
            <a:pPr>
              <a:spcBef>
                <a:spcPts val="600"/>
              </a:spcBef>
              <a:spcAft>
                <a:spcPts val="600"/>
              </a:spcAft>
              <a:defRPr sz="1800">
                <a:solidFill>
                  <a:srgbClr val="404040"/>
                </a:solidFill>
              </a:defRPr>
            </a:pPr>
            <a:r>
              <a:t>Regulatory reporting to BSI completed March 25 (within 15-day deadline)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none">
            <a:spAutoFit/>
          </a:bodyPr>
          <a:lstStyle/>
          <a:p>
            <a:pPr algn="ctr">
              <a:defRPr sz="3600" b="1">
                <a:solidFill>
                  <a:srgbClr val="003366"/>
                </a:solidFill>
              </a:defRPr>
            </a:pPr>
            <a:r>
              <a:t>Lecture 9: Course Conclusion and Audit Readiness</a:t>
            </a:r>
          </a:p>
        </p:txBody>
      </p:sp>
      <p:sp>
        <p:nvSpPr>
          <p:cNvPr id="3" name="TextBox 2"/>
          <p:cNvSpPr txBox="1"/>
          <p:nvPr/>
        </p:nvSpPr>
        <p:spPr>
          <a:xfrm>
            <a:off x="914400" y="3840480"/>
            <a:ext cx="7315200" cy="731520"/>
          </a:xfrm>
          <a:prstGeom prst="rect">
            <a:avLst/>
          </a:prstGeom>
          <a:noFill/>
        </p:spPr>
        <p:txBody>
          <a:bodyPr wrap="none">
            <a:spAutoFit/>
          </a:bodyPr>
          <a:lstStyle/>
          <a:p>
            <a:pPr algn="ctr">
              <a:defRPr sz="2000">
                <a:solidFill>
                  <a:srgbClr val="606060"/>
                </a:solidFill>
              </a:defRPr>
            </a:pPr>
            <a:r>
              <a:t>Duration: 30-35 minutes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L9: From Zero to Compliance: Your EU AI Act Transformation</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Mastered EU AI Act framework and regulatory structure</a:t>
            </a:r>
          </a:p>
          <a:p>
            <a:pPr>
              <a:spcBef>
                <a:spcPts val="600"/>
              </a:spcBef>
              <a:spcAft>
                <a:spcPts val="600"/>
              </a:spcAft>
              <a:defRPr sz="1800">
                <a:solidFill>
                  <a:srgbClr val="404040"/>
                </a:solidFill>
              </a:defRPr>
            </a:pPr>
            <a:r>
              <a:t>Classified AI systems using four-tier risk methodology</a:t>
            </a:r>
          </a:p>
          <a:p>
            <a:pPr>
              <a:spcBef>
                <a:spcPts val="600"/>
              </a:spcBef>
              <a:spcAft>
                <a:spcPts val="600"/>
              </a:spcAft>
              <a:defRPr sz="1800">
                <a:solidFill>
                  <a:srgbClr val="404040"/>
                </a:solidFill>
              </a:defRPr>
            </a:pPr>
            <a:r>
              <a:t>Conducted gap assessment creating compliance roadmap</a:t>
            </a:r>
          </a:p>
          <a:p>
            <a:pPr>
              <a:spcBef>
                <a:spcPts val="600"/>
              </a:spcBef>
              <a:spcAft>
                <a:spcPts val="600"/>
              </a:spcAft>
              <a:defRPr sz="1800">
                <a:solidFill>
                  <a:srgbClr val="404040"/>
                </a:solidFill>
              </a:defRPr>
            </a:pPr>
            <a:r>
              <a:t>Established governance with policies and accountability</a:t>
            </a:r>
          </a:p>
          <a:p>
            <a:pPr>
              <a:spcBef>
                <a:spcPts val="600"/>
              </a:spcBef>
              <a:spcAft>
                <a:spcPts val="600"/>
              </a:spcAft>
              <a:defRPr sz="1800">
                <a:solidFill>
                  <a:srgbClr val="404040"/>
                </a:solidFill>
              </a:defRPr>
            </a:pPr>
            <a:r>
              <a:t>Implemented Article 9 risk management systems</a:t>
            </a:r>
          </a:p>
          <a:p>
            <a:pPr>
              <a:spcBef>
                <a:spcPts val="600"/>
              </a:spcBef>
              <a:spcAft>
                <a:spcPts val="600"/>
              </a:spcAft>
              <a:defRPr sz="1800">
                <a:solidFill>
                  <a:srgbClr val="404040"/>
                </a:solidFill>
              </a:defRPr>
            </a:pPr>
            <a:r>
              <a:t>Created Article 11 comprehensive technical documentation</a:t>
            </a:r>
          </a:p>
          <a:p>
            <a:pPr>
              <a:spcBef>
                <a:spcPts val="600"/>
              </a:spcBef>
              <a:spcAft>
                <a:spcPts val="600"/>
              </a:spcAft>
              <a:defRPr sz="1800">
                <a:solidFill>
                  <a:srgbClr val="404040"/>
                </a:solidFill>
              </a:defRPr>
            </a:pPr>
            <a:r>
              <a:t>Built incident management and post-market monitoring</a:t>
            </a:r>
          </a:p>
          <a:p>
            <a:pPr>
              <a:spcBef>
                <a:spcPts val="600"/>
              </a:spcBef>
              <a:spcAft>
                <a:spcPts val="600"/>
              </a:spcAft>
              <a:defRPr sz="1800">
                <a:solidFill>
                  <a:srgbClr val="404040"/>
                </a:solidFill>
              </a:defRPr>
            </a:pPr>
            <a:r>
              <a:t>Produced complete audit-ready compliance package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L9: Preparing for Regulatory Audits and Maintaining Continuous Compliance</a:t>
            </a:r>
          </a:p>
        </p:txBody>
      </p:sp>
      <p:sp>
        <p:nvSpPr>
          <p:cNvPr id="3" name="TextBox 2"/>
          <p:cNvSpPr txBox="1"/>
          <p:nvPr/>
        </p:nvSpPr>
        <p:spPr>
          <a:xfrm>
            <a:off x="731520" y="1371600"/>
            <a:ext cx="7680960" cy="5029200"/>
          </a:xfrm>
          <a:prstGeom prst="rect">
            <a:avLst/>
          </a:prstGeom>
          <a:noFill/>
        </p:spPr>
        <p:txBody>
          <a:bodyPr wrap="square">
            <a:spAutoFit/>
          </a:bodyPr>
          <a:lstStyle/>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square">
            <a:spAutoFit/>
          </a:bodyPr>
          <a:lstStyle/>
          <a:p>
            <a:pPr>
              <a:defRPr sz="2800" b="1">
                <a:solidFill>
                  <a:srgbClr val="003366"/>
                </a:solidFill>
              </a:defRPr>
            </a:pPr>
            <a:r>
              <a:t>L9: Your Complete Compliance Portfolio and Continuing Journey</a:t>
            </a:r>
          </a:p>
        </p:txBody>
      </p:sp>
      <p:sp>
        <p:nvSpPr>
          <p:cNvPr id="3" name="TextBox 2"/>
          <p:cNvSpPr txBox="1"/>
          <p:nvPr/>
        </p:nvSpPr>
        <p:spPr>
          <a:xfrm>
            <a:off x="731520" y="1371600"/>
            <a:ext cx="7680960" cy="5029200"/>
          </a:xfrm>
          <a:prstGeom prst="rect">
            <a:avLst/>
          </a:prstGeom>
          <a:noFill/>
        </p:spPr>
        <p:txBody>
          <a:bodyPr wrap="square">
            <a:spAutoFit/>
          </a:bodyPr>
          <a:lstStyle/>
          <a:p>
            <a:pPr>
              <a:spcBef>
                <a:spcPts val="600"/>
              </a:spcBef>
              <a:spcAft>
                <a:spcPts val="600"/>
              </a:spcAft>
              <a:defRPr sz="1800">
                <a:solidFill>
                  <a:srgbClr val="404040"/>
                </a:solidFill>
              </a:defRPr>
            </a:pPr>
            <a:r>
              <a:t>Complete integrated compliance portfolio with all documentation</a:t>
            </a:r>
          </a:p>
          <a:p>
            <a:pPr>
              <a:spcBef>
                <a:spcPts val="600"/>
              </a:spcBef>
              <a:spcAft>
                <a:spcPts val="600"/>
              </a:spcAft>
              <a:defRPr sz="1800">
                <a:solidFill>
                  <a:srgbClr val="404040"/>
                </a:solidFill>
              </a:defRPr>
            </a:pPr>
            <a:r>
              <a:t>Cross-reference documents ensuring consistency and traceability</a:t>
            </a:r>
          </a:p>
          <a:p>
            <a:pPr>
              <a:spcBef>
                <a:spcPts val="600"/>
              </a:spcBef>
              <a:spcAft>
                <a:spcPts val="600"/>
              </a:spcAft>
              <a:defRPr sz="1800">
                <a:solidFill>
                  <a:srgbClr val="404040"/>
                </a:solidFill>
              </a:defRPr>
            </a:pPr>
            <a:r>
              <a:t>Create compliance evidence index for audit readiness</a:t>
            </a:r>
          </a:p>
          <a:p>
            <a:pPr>
              <a:spcBef>
                <a:spcPts val="600"/>
              </a:spcBef>
              <a:spcAft>
                <a:spcPts val="600"/>
              </a:spcAft>
              <a:defRPr sz="1800">
                <a:solidFill>
                  <a:srgbClr val="404040"/>
                </a:solidFill>
              </a:defRPr>
            </a:pPr>
            <a:r>
              <a:t>Prepare executive summary for leadership communication</a:t>
            </a:r>
          </a:p>
          <a:p>
            <a:pPr>
              <a:spcBef>
                <a:spcPts val="600"/>
              </a:spcBef>
              <a:spcAft>
                <a:spcPts val="600"/>
              </a:spcAft>
              <a:defRPr sz="1800">
                <a:solidFill>
                  <a:srgbClr val="404040"/>
                </a:solidFill>
              </a:defRPr>
            </a:pPr>
            <a:r>
              <a:t>Maintain systematic documentation practices for ongoing compliance</a:t>
            </a:r>
          </a:p>
          <a:p>
            <a:pPr>
              <a:spcBef>
                <a:spcPts val="600"/>
              </a:spcBef>
              <a:spcAft>
                <a:spcPts val="600"/>
              </a:spcAft>
              <a:defRPr sz="1800">
                <a:solidFill>
                  <a:srgbClr val="404040"/>
                </a:solidFill>
              </a:defRPr>
            </a:pPr>
            <a:r>
              <a:t>Schedule regular compliance reviews and updates</a:t>
            </a:r>
          </a:p>
          <a:p>
            <a:pPr>
              <a:spcBef>
                <a:spcPts val="600"/>
              </a:spcBef>
              <a:spcAft>
                <a:spcPts val="600"/>
              </a:spcAft>
              <a:defRPr sz="1800">
                <a:solidFill>
                  <a:srgbClr val="404040"/>
                </a:solidFill>
              </a:defRPr>
            </a:pPr>
            <a:r>
              <a:t>Track regulatory developments and guidance</a:t>
            </a:r>
          </a:p>
          <a:p>
            <a:pPr>
              <a:spcBef>
                <a:spcPts val="600"/>
              </a:spcBef>
              <a:spcAft>
                <a:spcPts val="600"/>
              </a:spcAft>
              <a:defRPr sz="1800">
                <a:solidFill>
                  <a:srgbClr val="404040"/>
                </a:solidFill>
              </a:defRPr>
            </a:pPr>
            <a:r>
              <a:t>Engage professional communities for continuous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